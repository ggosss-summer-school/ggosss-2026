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5" r:id="rId2"/>
    <p:sldId id="257" r:id="rId3"/>
    <p:sldId id="288" r:id="rId4"/>
    <p:sldId id="258" r:id="rId5"/>
    <p:sldId id="287" r:id="rId6"/>
    <p:sldId id="26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77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85091" autoAdjust="0"/>
  </p:normalViewPr>
  <p:slideViewPr>
    <p:cSldViewPr snapToGrid="0">
      <p:cViewPr varScale="1">
        <p:scale>
          <a:sx n="69" d="100"/>
          <a:sy n="69" d="100"/>
        </p:scale>
        <p:origin x="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40E8F-48FD-4296-B3E6-39F8A24B0C2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93581-980E-4755-BA1C-D53AC7291E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10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Merci monsieur de m’avoir accorder,</a:t>
            </a:r>
            <a:r>
              <a:rPr lang="fr-FR" baseline="0" dirty="0" smtClean="0"/>
              <a:t> monsieur le président du jury, honorable membre du jury, auguste assemblé bonjour. Le travail que je présente à ce jour porte sur l’étude de la var……………………..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593581-980E-4755-BA1C-D53AC7291EE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5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593581-980E-4755-BA1C-D53AC7291EE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453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Objectifs</a:t>
            </a:r>
            <a:r>
              <a:rPr lang="fr-FR" baseline="0" dirty="0" smtClean="0"/>
              <a:t> spécifiques</a:t>
            </a:r>
          </a:p>
          <a:p>
            <a:r>
              <a:rPr lang="fr-FR" dirty="0" smtClean="0"/>
              <a:t>Déterminer</a:t>
            </a:r>
            <a:r>
              <a:rPr lang="fr-FR" baseline="0" dirty="0" smtClean="0"/>
              <a:t> l’impact </a:t>
            </a:r>
            <a:r>
              <a:rPr lang="fr-FR" baseline="0" dirty="0" err="1" smtClean="0"/>
              <a:t>l’impact</a:t>
            </a:r>
            <a:r>
              <a:rPr lang="fr-FR" baseline="0" dirty="0" smtClean="0"/>
              <a:t> des rivières et des marrées sur les observations </a:t>
            </a:r>
          </a:p>
          <a:p>
            <a:r>
              <a:rPr lang="fr-FR" baseline="0" smtClean="0"/>
              <a:t>L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593581-980E-4755-BA1C-D53AC7291EE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889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93581-980E-4755-BA1C-D53AC7291EE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627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93581-980E-4755-BA1C-D53AC7291EE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4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93581-980E-4755-BA1C-D53AC7291EE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105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76A50F-0435-C366-88F7-AFC3A8757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718E00-290A-BE85-A79D-FD15705E5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D6CDC-D69F-5AF3-D60E-959F6EFE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3258D-F60C-4F4A-8531-A22429840A64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1BFE00-37DE-31A5-B849-6180A453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22D9EF-6D79-30CE-75C5-33FF6AEA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22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805126-E363-06CB-AA48-1BFD915A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CD4EC0-9EDF-05E8-10AF-2F75D2BDE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C0DB47-B1F7-9460-92FA-59FF60B6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BC8-13A4-460A-8414-FE1B431DDD16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32AC22-1A43-922B-BC45-196B8892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465D1A-F9BB-3F80-D5EE-E6FD27D9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00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8EB52B-6AA8-9BA6-9E09-EE383FA3E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255A0D-6FCD-F3D7-79EE-BD9FAC215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85921D-709B-3438-0257-8FD740E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6B653-5A72-453F-A48D-B71E7837E9C8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F64F91-7A3B-5B16-B7F4-87A32C04A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2132D4-40CC-A682-98B9-F77A294F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31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E12B9-5D89-A501-7990-E73CCEC9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795D67-760C-2720-0F8E-05CBCF737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EEEFC4-443A-B796-6147-A81A8E98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AF8232-D340-3CDF-DC12-1C4E8277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A74E-80A9-4A54-B2F1-81D4988390EE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494814-EFA1-E6E4-0BC5-9983B8DD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D76014-DEF2-33EA-8F66-327262F8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56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20D83F-FF69-2234-1424-24B4A7FA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0ADF7F-E7B3-37AE-3E05-6BEEB148B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22B0DA-B3AB-5BA6-0D7E-6FB38E9C9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067BD3-D1E7-04E6-62EA-A23C05D42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287BD5-8AF7-022E-B104-46BD58B28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E60327-002D-B043-6CEE-F1B1B866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895C1-C211-4E97-84EA-251DAD8522DA}" type="datetime1">
              <a:rPr lang="fr-FR" smtClean="0"/>
              <a:t>08/10/2026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321FBB-9ACA-DBB8-5108-938CF7AF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3FF6CA5-0301-F164-2E7A-B5DC50B6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72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392CE-2564-A8DC-689D-AC98B0590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25307F2-3448-BAE2-10D1-23F19974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D248-A309-4135-B7B4-4F3DD22E8E7F}" type="datetime1">
              <a:rPr lang="fr-FR" smtClean="0"/>
              <a:t>08/10/2026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45012F7-E79C-DC7A-0C2C-6BB3E698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37340F-4520-BAA9-9873-2127783F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103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D3CDF6D-F7AE-9399-385B-8BBE9363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A701-0F77-47C5-82C4-4C8BC1987F1E}" type="datetime1">
              <a:rPr lang="fr-FR" smtClean="0"/>
              <a:t>08/10/2026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C0AEBA-0159-1134-7A24-BF310F02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DFF828-AD50-E440-B338-FB99F2A2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476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CBA2C-9AB7-1899-C2D1-55F6DAA0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8CBE07-997A-EB64-A411-97790B325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076EBC-8C2F-D09C-E4CA-FCC98F766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1560E8-D442-730F-2330-98CAEE67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AFDB3-2B90-4030-8230-1537B246E1D4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7E8262-F7C9-BCAF-9BC3-A418E81B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9E769E-97F5-388F-183D-FC3E5639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7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CEDF6-3F4D-FB63-0450-D0903572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B2CABC-1191-9A2B-5819-F2E42AD7C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B80F16-0C4A-59A9-2FAC-4C8BA2A0E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85D2AE-9F3E-590E-FC19-3495BCFF6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65CF9-18C1-451F-AA6D-21730602725A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428F47-A694-7B57-CD24-F94FEF42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9D00D4-323C-EF90-63B9-264F86C8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30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1FD68-8742-5763-04F3-969DFDCB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B6FB0B-661A-4179-7068-F05AFD33E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86B5C8-C4BD-73FC-86AB-F38A10A25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846D-5C9C-4217-89FA-D23D44EC192A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F802A2-0893-7FBF-6AD0-97B05EF1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F377E9-D80D-70D4-2557-A6D37AED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37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403C5A-C628-2B02-23EF-899449989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20D269-90EF-F896-6488-17F04F031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BCF483-9B59-AF1C-950A-F8DF8789F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AC54-133D-4451-929F-F8C23E2F4360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BF702F-E920-F35F-462B-F2E3B700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C9341F-A8A0-9FF2-868D-6F574405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000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2BCEB95-DC08-9B7F-277C-9BB703E7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607F9D-85D2-8038-E52B-BB543BA6D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22B48A-8C13-F816-A18E-39082BFFA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9E5A2-F5AF-4379-90E1-189AEBBE7E49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5BAA13-6929-5CC5-3A29-D510FC32B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3941B4-8D09-B0D5-715B-A26D3F23D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A9C5D-5D5C-4D50-835D-7AC793A1651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37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7AA8647-BCB3-A1EA-984F-6AAC00C1F4E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8256" y="63478"/>
            <a:ext cx="2993744" cy="18285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497646-A189-F4FE-72E3-37151CB5B84F}"/>
              </a:ext>
            </a:extLst>
          </p:cNvPr>
          <p:cNvSpPr/>
          <p:nvPr/>
        </p:nvSpPr>
        <p:spPr>
          <a:xfrm>
            <a:off x="7337217" y="63478"/>
            <a:ext cx="4854783" cy="16307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Benin, Cotonou 2026</a:t>
            </a:r>
          </a:p>
          <a:p>
            <a:pPr algn="ctr"/>
            <a:r>
              <a:rPr lang="fr-F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Faternité</a:t>
            </a:r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Justice, Travail</a:t>
            </a:r>
          </a:p>
          <a:p>
            <a:pPr algn="ctr"/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=-=-=-=-=-=-=-=-=-=-=-= </a:t>
            </a:r>
          </a:p>
          <a:p>
            <a:pPr algn="ctr"/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AE8AE9-8F98-8EA8-6A9C-97945C82AF63}"/>
              </a:ext>
            </a:extLst>
          </p:cNvPr>
          <p:cNvSpPr/>
          <p:nvPr/>
        </p:nvSpPr>
        <p:spPr>
          <a:xfrm>
            <a:off x="0" y="117302"/>
            <a:ext cx="4947098" cy="148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GGOSSS2026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Gulf of </a:t>
            </a:r>
            <a:r>
              <a:rPr lang="fr-F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Guinnea</a:t>
            </a:r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Ocean</a:t>
            </a:r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Science </a:t>
            </a:r>
          </a:p>
          <a:p>
            <a:pPr algn="ctr"/>
            <a:r>
              <a:rPr lang="fr-F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Summer</a:t>
            </a:r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School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=-=-=-=-=-=-=-=-=-=-=-= </a:t>
            </a:r>
          </a:p>
        </p:txBody>
      </p:sp>
      <p:grpSp>
        <p:nvGrpSpPr>
          <p:cNvPr id="12" name="Groupe 11"/>
          <p:cNvGrpSpPr/>
          <p:nvPr/>
        </p:nvGrpSpPr>
        <p:grpSpPr>
          <a:xfrm>
            <a:off x="0" y="3962098"/>
            <a:ext cx="12013945" cy="2895902"/>
            <a:chOff x="72485" y="3941040"/>
            <a:chExt cx="12013945" cy="28959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5AC59D-D2FE-3DE6-8360-A0A34198622D}"/>
                </a:ext>
              </a:extLst>
            </p:cNvPr>
            <p:cNvSpPr/>
            <p:nvPr/>
          </p:nvSpPr>
          <p:spPr>
            <a:xfrm>
              <a:off x="258861" y="3941040"/>
              <a:ext cx="11827569" cy="10694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fr-FR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Présenté par </a:t>
              </a:r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  <a:p>
              <a:pPr algn="ctr">
                <a:lnSpc>
                  <a:spcPct val="150000"/>
                </a:lnSpc>
              </a:pPr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Epiphanie, Jean De Dieu, </a:t>
              </a:r>
              <a:r>
                <a:rPr lang="fr-FR" sz="24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Clement</a:t>
              </a:r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Emanuel, Jules, </a:t>
              </a:r>
              <a:r>
                <a:rPr lang="fr-FR" sz="24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Esmel</a:t>
              </a:r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Eustache, </a:t>
              </a:r>
              <a:r>
                <a:rPr lang="fr-FR" sz="24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Mouhamad</a:t>
              </a:r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7E6AD8-ED08-334F-FF27-28FCF2901F10}"/>
                </a:ext>
              </a:extLst>
            </p:cNvPr>
            <p:cNvSpPr/>
            <p:nvPr/>
          </p:nvSpPr>
          <p:spPr>
            <a:xfrm>
              <a:off x="72485" y="5367285"/>
              <a:ext cx="4233978" cy="144136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Sous la </a:t>
              </a:r>
              <a:r>
                <a:rPr lang="fr-FR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supervision de:</a:t>
              </a:r>
              <a:endParaRPr lang="fr-FR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fr-FR" sz="2400" b="1" dirty="0">
                  <a:latin typeface="Times New Roman" panose="02020603050405020304" pitchFamily="18" charset="0"/>
                  <a:ea typeface="Calibri" panose="020F0502020204030204" pitchFamily="34" charset="0"/>
                </a:rPr>
                <a:t>P</a:t>
              </a:r>
              <a:r>
                <a:rPr lang="fr-FR" sz="2400" b="1" dirty="0" smtClean="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r </a:t>
              </a:r>
              <a:r>
                <a:rPr lang="fr-FR" sz="2400" b="1" dirty="0" err="1" smtClean="0">
                  <a:latin typeface="Times New Roman" panose="02020603050405020304" pitchFamily="18" charset="0"/>
                  <a:ea typeface="Calibri" panose="020F0502020204030204" pitchFamily="34" charset="0"/>
                </a:rPr>
                <a:t>Eric</a:t>
              </a:r>
              <a:r>
                <a:rPr lang="fr-FR" sz="2400" b="1" dirty="0" smtClean="0">
                  <a:latin typeface="Times New Roman" panose="02020603050405020304" pitchFamily="18" charset="0"/>
                  <a:ea typeface="Calibri" panose="020F0502020204030204" pitchFamily="34" charset="0"/>
                </a:rPr>
                <a:t> </a:t>
              </a:r>
              <a:r>
                <a:rPr lang="fr-FR" sz="2400" b="1" dirty="0" err="1" smtClean="0">
                  <a:latin typeface="Times New Roman" panose="02020603050405020304" pitchFamily="18" charset="0"/>
                  <a:ea typeface="Calibri" panose="020F0502020204030204" pitchFamily="34" charset="0"/>
                </a:rPr>
                <a:t>Chassignet</a:t>
              </a:r>
              <a:endPara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endParaRPr lang="fr-FR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A5CED1-CEFA-0A21-F081-88B659B076EF}"/>
                </a:ext>
              </a:extLst>
            </p:cNvPr>
            <p:cNvSpPr/>
            <p:nvPr/>
          </p:nvSpPr>
          <p:spPr>
            <a:xfrm>
              <a:off x="7895854" y="5556123"/>
              <a:ext cx="4190576" cy="12808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 </a:t>
              </a:r>
              <a:r>
                <a:rPr lang="fr-FR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sous la coordination de: </a:t>
              </a:r>
            </a:p>
            <a:p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 Fernand </a:t>
              </a:r>
              <a:r>
                <a:rPr lang="fr-FR" sz="24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Assene</a:t>
              </a:r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MVONGO</a:t>
              </a:r>
              <a:endPara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fr-FR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 Hugo PLOMBAT</a:t>
              </a:r>
              <a:endPara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endParaRPr lang="fr-FR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433137" y="2117558"/>
            <a:ext cx="11213431" cy="15881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des travaux pratiques sur la modélisation: </a:t>
            </a:r>
            <a:r>
              <a:rPr lang="fr-FR"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CROCO</a:t>
            </a:r>
            <a:endParaRPr lang="fr-FR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75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4ECEE17-FFF1-440C-E05F-5633A88C2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algn="l"/>
            <a:endParaRPr lang="fr-FR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fr-FR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252620-3058-AFCF-4CB7-F23E4090BEFF}"/>
              </a:ext>
            </a:extLst>
          </p:cNvPr>
          <p:cNvSpPr/>
          <p:nvPr/>
        </p:nvSpPr>
        <p:spPr>
          <a:xfrm>
            <a:off x="0" y="0"/>
            <a:ext cx="12191998" cy="5627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Introduction(1/3)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flipH="1">
            <a:off x="-2658979" y="2643341"/>
            <a:ext cx="11353800" cy="163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0" y="5951621"/>
            <a:ext cx="12192002" cy="955739"/>
            <a:chOff x="-1" y="6183850"/>
            <a:chExt cx="12192002" cy="9557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16574B-DDCA-8D6B-F284-197E54D11FE0}"/>
                </a:ext>
              </a:extLst>
            </p:cNvPr>
            <p:cNvSpPr/>
            <p:nvPr/>
          </p:nvSpPr>
          <p:spPr>
            <a:xfrm>
              <a:off x="0" y="6763658"/>
              <a:ext cx="12192001" cy="32657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CA0679-3EB8-DD82-1676-18D5693E7BDB}"/>
                </a:ext>
              </a:extLst>
            </p:cNvPr>
            <p:cNvSpPr/>
            <p:nvPr/>
          </p:nvSpPr>
          <p:spPr>
            <a:xfrm>
              <a:off x="-1" y="6454381"/>
              <a:ext cx="12191998" cy="32518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7" name="Ellipse 16"/>
            <p:cNvSpPr/>
            <p:nvPr/>
          </p:nvSpPr>
          <p:spPr>
            <a:xfrm rot="10800000" flipH="1" flipV="1">
              <a:off x="5573483" y="6183850"/>
              <a:ext cx="1485042" cy="955739"/>
            </a:xfrm>
            <a:prstGeom prst="ellipse">
              <a:avLst/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FF2DA-0B56-43A4-B799-5FB4FDA216BC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1568750" y="6208262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050" name="Picture 2" descr="13 924 000+ Océan photos libres de droits - i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885" y="621405"/>
            <a:ext cx="3120190" cy="130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ttoral : 126 communes face à l'érosion côtière | Vie publique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51" y="2059295"/>
            <a:ext cx="2678897" cy="176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2847" y="833239"/>
            <a:ext cx="6577263" cy="12121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L'océan, au cœur de la vie dans le golfe de Guinée: Alimentation, 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emplois tels que commerce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maritime;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2847" y="2481865"/>
            <a:ext cx="5250636" cy="11954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fr-F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océan qui change: Eaux plus chaudes, érosion du littoral, </a:t>
            </a:r>
            <a:r>
              <a:rPr lang="fr-FR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endParaRPr lang="fr-FR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72" y="4872942"/>
            <a:ext cx="6577263" cy="827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L’observé en continu: Modélisation</a:t>
            </a:r>
          </a:p>
          <a:p>
            <a:pPr lvl="1">
              <a:lnSpc>
                <a:spcPct val="150000"/>
              </a:lnSpc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7">
              <a:lnSpc>
                <a:spcPct val="150000"/>
              </a:lnSpc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0716" y="2154541"/>
            <a:ext cx="3383533" cy="2120465"/>
          </a:xfrm>
          <a:prstGeom prst="rect">
            <a:avLst/>
          </a:prstGeom>
        </p:spPr>
      </p:pic>
      <p:pic>
        <p:nvPicPr>
          <p:cNvPr id="18" name="Picture 2" descr="Welcome to CROCO-Sud - GdRI-Sud CROC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502" y="4306066"/>
            <a:ext cx="3487612" cy="151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7181D2-F219-4F55-3B3B-5F6C0AE5F765}"/>
              </a:ext>
            </a:extLst>
          </p:cNvPr>
          <p:cNvSpPr/>
          <p:nvPr/>
        </p:nvSpPr>
        <p:spPr>
          <a:xfrm>
            <a:off x="-3" y="1"/>
            <a:ext cx="12192001" cy="5345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Introduction(2/3)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0" y="6109186"/>
            <a:ext cx="12192002" cy="767082"/>
            <a:chOff x="-1" y="6323147"/>
            <a:chExt cx="12192002" cy="7670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16574B-DDCA-8D6B-F284-197E54D11FE0}"/>
                </a:ext>
              </a:extLst>
            </p:cNvPr>
            <p:cNvSpPr/>
            <p:nvPr/>
          </p:nvSpPr>
          <p:spPr>
            <a:xfrm>
              <a:off x="0" y="6763658"/>
              <a:ext cx="12192001" cy="32657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CA0679-3EB8-DD82-1676-18D5693E7BDB}"/>
                </a:ext>
              </a:extLst>
            </p:cNvPr>
            <p:cNvSpPr/>
            <p:nvPr/>
          </p:nvSpPr>
          <p:spPr>
            <a:xfrm>
              <a:off x="-1" y="6454382"/>
              <a:ext cx="12192000" cy="309276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/>
            <p:cNvSpPr/>
            <p:nvPr/>
          </p:nvSpPr>
          <p:spPr>
            <a:xfrm rot="10800000" flipH="1" flipV="1">
              <a:off x="5573483" y="6323147"/>
              <a:ext cx="1045029" cy="767082"/>
            </a:xfrm>
            <a:prstGeom prst="ellipse">
              <a:avLst/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2C6C8-47BD-46A7-B35F-AED0E0847571}" type="datetime1">
              <a:rPr lang="fr-FR" smtClean="0"/>
              <a:t>08/10/2026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11309685" y="6181448"/>
            <a:ext cx="737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12842" y="4181163"/>
            <a:ext cx="45719" cy="68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211049" y="1017112"/>
            <a:ext cx="3537288" cy="11710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fr-F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Problématique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632" y="2317234"/>
            <a:ext cx="11806193" cy="2022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fr-FR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CROCO </a:t>
            </a:r>
            <a:r>
              <a:rPr lang="fr-F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permet-il de reconstituer de façon crédible la circulation océanique côtière du golfe de Guinée, là </a:t>
            </a:r>
            <a:r>
              <a:rPr lang="fr-FR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où il y a peu d’observations </a:t>
            </a:r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Welcome to CROCO-Sud - GdRI-Sud CRO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213" y="700245"/>
            <a:ext cx="3487612" cy="151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1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7181D2-F219-4F55-3B3B-5F6C0AE5F765}"/>
              </a:ext>
            </a:extLst>
          </p:cNvPr>
          <p:cNvSpPr/>
          <p:nvPr/>
        </p:nvSpPr>
        <p:spPr>
          <a:xfrm>
            <a:off x="-3" y="1"/>
            <a:ext cx="12192001" cy="5345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Introduction(3/3)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0" y="6197599"/>
            <a:ext cx="12192002" cy="660401"/>
            <a:chOff x="-1" y="6323147"/>
            <a:chExt cx="12192002" cy="7670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16574B-DDCA-8D6B-F284-197E54D11FE0}"/>
                </a:ext>
              </a:extLst>
            </p:cNvPr>
            <p:cNvSpPr/>
            <p:nvPr/>
          </p:nvSpPr>
          <p:spPr>
            <a:xfrm>
              <a:off x="0" y="6763658"/>
              <a:ext cx="12192001" cy="32657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CA0679-3EB8-DD82-1676-18D5693E7BDB}"/>
                </a:ext>
              </a:extLst>
            </p:cNvPr>
            <p:cNvSpPr/>
            <p:nvPr/>
          </p:nvSpPr>
          <p:spPr>
            <a:xfrm>
              <a:off x="-1" y="6454381"/>
              <a:ext cx="12191998" cy="32518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/>
            <p:cNvSpPr/>
            <p:nvPr/>
          </p:nvSpPr>
          <p:spPr>
            <a:xfrm rot="10800000" flipH="1" flipV="1">
              <a:off x="5573483" y="6323147"/>
              <a:ext cx="1148158" cy="767082"/>
            </a:xfrm>
            <a:prstGeom prst="ellipse">
              <a:avLst/>
            </a:prstGeom>
            <a:blipFill dpi="0" rotWithShape="1"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12BD-B7F3-4573-AA17-37BE70BE0866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1685114" y="6211669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401053" y="3345183"/>
            <a:ext cx="11539140" cy="28524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spécifiques</a:t>
            </a:r>
            <a:endParaRPr lang="en-US" sz="2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Évaluer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l'apport d'une résolution plus fine (1/36° contre 1/12°) dans la représentation de la circulation près des côtes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Déterminer l'impact des marées et des apports fluviaux sur la circulation côtière simulée par CROCO</a:t>
            </a:r>
          </a:p>
        </p:txBody>
      </p:sp>
      <p:sp>
        <p:nvSpPr>
          <p:cNvPr id="13" name="Rectangle 12"/>
          <p:cNvSpPr/>
          <p:nvPr/>
        </p:nvSpPr>
        <p:spPr>
          <a:xfrm flipH="1">
            <a:off x="401053" y="608279"/>
            <a:ext cx="11619350" cy="17938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</a:p>
          <a:p>
            <a:pPr algn="just">
              <a:lnSpc>
                <a:spcPct val="120000"/>
              </a:lnSpc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forçages et la résolution influencent la capacité de CROCO à reproduire la circulation côtière du golfe de Guinée.</a:t>
            </a:r>
          </a:p>
        </p:txBody>
      </p:sp>
      <p:sp>
        <p:nvSpPr>
          <p:cNvPr id="14" name="Flèche vers le bas 13"/>
          <p:cNvSpPr/>
          <p:nvPr/>
        </p:nvSpPr>
        <p:spPr>
          <a:xfrm>
            <a:off x="5325979" y="2402171"/>
            <a:ext cx="368968" cy="81207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575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DA3E5E-6306-9560-BE20-065104234FCC}"/>
              </a:ext>
            </a:extLst>
          </p:cNvPr>
          <p:cNvSpPr/>
          <p:nvPr/>
        </p:nvSpPr>
        <p:spPr>
          <a:xfrm>
            <a:off x="2" y="-65315"/>
            <a:ext cx="12191998" cy="53457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Zone d’étude 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0" y="6090918"/>
            <a:ext cx="12192002" cy="767082"/>
            <a:chOff x="-1" y="6323147"/>
            <a:chExt cx="12192002" cy="7670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16574B-DDCA-8D6B-F284-197E54D11FE0}"/>
                </a:ext>
              </a:extLst>
            </p:cNvPr>
            <p:cNvSpPr/>
            <p:nvPr/>
          </p:nvSpPr>
          <p:spPr>
            <a:xfrm>
              <a:off x="0" y="6763658"/>
              <a:ext cx="12192001" cy="32657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CA0679-3EB8-DD82-1676-18D5693E7BDB}"/>
                </a:ext>
              </a:extLst>
            </p:cNvPr>
            <p:cNvSpPr/>
            <p:nvPr/>
          </p:nvSpPr>
          <p:spPr>
            <a:xfrm>
              <a:off x="-1" y="6454381"/>
              <a:ext cx="12191998" cy="32518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/>
            <p:cNvSpPr/>
            <p:nvPr/>
          </p:nvSpPr>
          <p:spPr>
            <a:xfrm rot="10800000" flipH="1" flipV="1">
              <a:off x="5573483" y="6323147"/>
              <a:ext cx="1045029" cy="767082"/>
            </a:xfrm>
            <a:prstGeom prst="ellipse">
              <a:avLst/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EE8FC-CA54-4911-8130-F16D9F6E6C9B}" type="datetime1">
              <a:rPr lang="fr-FR" smtClean="0"/>
              <a:t>08/10/2026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1568750" y="6208262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6126" y="2999874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2" name="Groupe 21"/>
          <p:cNvGrpSpPr/>
          <p:nvPr/>
        </p:nvGrpSpPr>
        <p:grpSpPr>
          <a:xfrm>
            <a:off x="2845138" y="698809"/>
            <a:ext cx="8007682" cy="4722047"/>
            <a:chOff x="2845138" y="698809"/>
            <a:chExt cx="8007682" cy="4722047"/>
          </a:xfrm>
        </p:grpSpPr>
        <p:sp>
          <p:nvSpPr>
            <p:cNvPr id="16" name="Rectangle 15"/>
            <p:cNvSpPr/>
            <p:nvPr/>
          </p:nvSpPr>
          <p:spPr>
            <a:xfrm>
              <a:off x="2845138" y="698809"/>
              <a:ext cx="8007682" cy="4722047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16266" y="830043"/>
              <a:ext cx="6990259" cy="774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26316" y="1138989"/>
              <a:ext cx="641684" cy="38501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2597083" y="5005191"/>
            <a:ext cx="7750075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NGG: région Ghana-Côte d’Ivoire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25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001681-FE73-59ED-C8BF-E5F857DBF22A}"/>
              </a:ext>
            </a:extLst>
          </p:cNvPr>
          <p:cNvSpPr/>
          <p:nvPr/>
        </p:nvSpPr>
        <p:spPr>
          <a:xfrm>
            <a:off x="0" y="0"/>
            <a:ext cx="12208039" cy="46522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Données et méthode 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1/2)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-1" y="6090918"/>
            <a:ext cx="12192002" cy="767082"/>
            <a:chOff x="-1" y="6323147"/>
            <a:chExt cx="12192002" cy="7670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16574B-DDCA-8D6B-F284-197E54D11FE0}"/>
                </a:ext>
              </a:extLst>
            </p:cNvPr>
            <p:cNvSpPr/>
            <p:nvPr/>
          </p:nvSpPr>
          <p:spPr>
            <a:xfrm>
              <a:off x="0" y="6763658"/>
              <a:ext cx="12192001" cy="32657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CA0679-3EB8-DD82-1676-18D5693E7BDB}"/>
                </a:ext>
              </a:extLst>
            </p:cNvPr>
            <p:cNvSpPr/>
            <p:nvPr/>
          </p:nvSpPr>
          <p:spPr>
            <a:xfrm>
              <a:off x="-1" y="6454381"/>
              <a:ext cx="12191998" cy="32518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0" name="Ellipse 9"/>
            <p:cNvSpPr/>
            <p:nvPr/>
          </p:nvSpPr>
          <p:spPr>
            <a:xfrm rot="10800000" flipH="1" flipV="1">
              <a:off x="5573483" y="6323147"/>
              <a:ext cx="1045029" cy="767082"/>
            </a:xfrm>
            <a:prstGeom prst="ellipse">
              <a:avLst/>
            </a:prstGeom>
            <a:blipFill dpi="0"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7AD-1FDA-4D01-AE36-9322061E2FB5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1568749" y="6186085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 rot="10800000" flipV="1">
            <a:off x="-1" y="1269724"/>
            <a:ext cx="3340771" cy="6859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utilisés</a:t>
            </a:r>
            <a:endParaRPr lang="fr-FR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75747" y="774498"/>
            <a:ext cx="7093002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GLORYS12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données océaniques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ERA5: données océaniques </a:t>
            </a: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TPXO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données de marée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GloFAS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données de débit des rivières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75747" y="3446043"/>
            <a:ext cx="6836329" cy="24128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CROCO: le model océanique 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OpenMP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Effectue les calculs en parallèle;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 visualisation, contrôle et analyse des </a:t>
            </a: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résultats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10800000" flipV="1">
            <a:off x="240628" y="4309532"/>
            <a:ext cx="2001254" cy="6859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Matériels</a:t>
            </a:r>
            <a:endParaRPr lang="fr-FR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lèche droite 20"/>
          <p:cNvSpPr/>
          <p:nvPr/>
        </p:nvSpPr>
        <p:spPr>
          <a:xfrm>
            <a:off x="3340770" y="1599946"/>
            <a:ext cx="974556" cy="18397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èche droite 21"/>
          <p:cNvSpPr/>
          <p:nvPr/>
        </p:nvSpPr>
        <p:spPr>
          <a:xfrm>
            <a:off x="2839453" y="4572000"/>
            <a:ext cx="1475873" cy="2371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29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/>
          <p:cNvGrpSpPr/>
          <p:nvPr/>
        </p:nvGrpSpPr>
        <p:grpSpPr>
          <a:xfrm>
            <a:off x="-2" y="0"/>
            <a:ext cx="12208041" cy="6863090"/>
            <a:chOff x="-2" y="0"/>
            <a:chExt cx="12208041" cy="686309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Données et méthode 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(2/2)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" name="Groupe 6"/>
            <p:cNvGrpSpPr/>
            <p:nvPr/>
          </p:nvGrpSpPr>
          <p:grpSpPr>
            <a:xfrm>
              <a:off x="-2" y="6096008"/>
              <a:ext cx="12192002" cy="767082"/>
              <a:chOff x="-1" y="6323147"/>
              <a:chExt cx="12192002" cy="76708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54381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" name="Ellipse 9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3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737AD-1FDA-4D01-AE36-9322061E2FB5}" type="datetime1">
              <a:rPr lang="fr-FR" smtClean="0"/>
              <a:t>08/10/2026</a:t>
            </a:fld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1568749" y="6186085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pSp>
        <p:nvGrpSpPr>
          <p:cNvPr id="11" name="Groupe 10"/>
          <p:cNvGrpSpPr/>
          <p:nvPr/>
        </p:nvGrpSpPr>
        <p:grpSpPr>
          <a:xfrm>
            <a:off x="122677" y="2019694"/>
            <a:ext cx="11946638" cy="1481175"/>
            <a:chOff x="-13855" y="1103890"/>
            <a:chExt cx="11946638" cy="1481175"/>
          </a:xfrm>
        </p:grpSpPr>
        <p:sp>
          <p:nvSpPr>
            <p:cNvPr id="16" name="Rectangle 15"/>
            <p:cNvSpPr/>
            <p:nvPr/>
          </p:nvSpPr>
          <p:spPr>
            <a:xfrm>
              <a:off x="-13855" y="1486110"/>
              <a:ext cx="4604084" cy="83099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lvl="1" algn="ctr">
                <a:lnSpc>
                  <a:spcPct val="150000"/>
                </a:lnSpc>
              </a:pPr>
              <a:r>
                <a:rPr lang="fr-FR" sz="32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Configuration utilisée : 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836783" y="1103890"/>
              <a:ext cx="6096000" cy="14811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lvl="1" algn="ctr">
                <a:lnSpc>
                  <a:spcPct val="150000"/>
                </a:lnSpc>
              </a:pP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config.sh IGOG_36  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8 0 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6  --</a:t>
              </a:r>
              <a:r>
                <a:rPr lang="fr-FR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36  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--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parent  GoG_12 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--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force</a:t>
              </a:r>
            </a:p>
          </p:txBody>
        </p:sp>
        <p:sp>
          <p:nvSpPr>
            <p:cNvPr id="18" name="Flèche droite 17"/>
            <p:cNvSpPr/>
            <p:nvPr/>
          </p:nvSpPr>
          <p:spPr>
            <a:xfrm>
              <a:off x="4707423" y="1836963"/>
              <a:ext cx="974556" cy="18397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98613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DAEB3A-DCCD-6D77-29F5-F25E1E1B8FED}"/>
              </a:ext>
            </a:extLst>
          </p:cNvPr>
          <p:cNvSpPr txBox="1">
            <a:spLocks/>
          </p:cNvSpPr>
          <p:nvPr/>
        </p:nvSpPr>
        <p:spPr>
          <a:xfrm>
            <a:off x="2178864" y="518736"/>
            <a:ext cx="9735312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sorties du model 1/12 et à 1/36 degré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6EBEDF4-BFED-CCC9-D378-F99B8A3596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20" b="7831"/>
          <a:stretch/>
        </p:blipFill>
        <p:spPr>
          <a:xfrm>
            <a:off x="3558485" y="1157871"/>
            <a:ext cx="8025840" cy="236829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114A3A-E1A6-A1B4-E728-50686166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274" y="3303327"/>
            <a:ext cx="7543627" cy="2472809"/>
          </a:xfrm>
          <a:prstGeom prst="rect">
            <a:avLst/>
          </a:prstGeom>
        </p:spPr>
      </p:pic>
      <p:grpSp>
        <p:nvGrpSpPr>
          <p:cNvPr id="10" name="Groupe 9"/>
          <p:cNvGrpSpPr/>
          <p:nvPr/>
        </p:nvGrpSpPr>
        <p:grpSpPr>
          <a:xfrm>
            <a:off x="-1" y="213786"/>
            <a:ext cx="12220873" cy="6863090"/>
            <a:chOff x="-12834" y="0"/>
            <a:chExt cx="12220873" cy="68630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Résultats(1/6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" name="Groupe 13"/>
            <p:cNvGrpSpPr/>
            <p:nvPr/>
          </p:nvGrpSpPr>
          <p:grpSpPr>
            <a:xfrm>
              <a:off x="-12834" y="6096008"/>
              <a:ext cx="12204830" cy="767082"/>
              <a:chOff x="-12833" y="6323147"/>
              <a:chExt cx="12204830" cy="7670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-12833" y="6654539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27061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" name="Ellipse 16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Ellipse 1"/>
          <p:cNvSpPr/>
          <p:nvPr/>
        </p:nvSpPr>
        <p:spPr>
          <a:xfrm>
            <a:off x="12831" y="4539732"/>
            <a:ext cx="2727854" cy="15328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Moyenne des courants de surface </a:t>
            </a:r>
          </a:p>
          <a:p>
            <a:pPr algn="ctr"/>
            <a:endParaRPr lang="fr-FR" sz="2000" dirty="0">
              <a:solidFill>
                <a:schemeClr val="tx1"/>
              </a:solidFill>
            </a:endParaRPr>
          </a:p>
        </p:txBody>
      </p:sp>
      <p:cxnSp>
        <p:nvCxnSpPr>
          <p:cNvPr id="4" name="Connecteur droit avec flèche 3"/>
          <p:cNvCxnSpPr/>
          <p:nvPr/>
        </p:nvCxnSpPr>
        <p:spPr>
          <a:xfrm flipV="1">
            <a:off x="1843758" y="4344683"/>
            <a:ext cx="1537179" cy="258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lipse 17"/>
          <p:cNvSpPr/>
          <p:nvPr/>
        </p:nvSpPr>
        <p:spPr>
          <a:xfrm>
            <a:off x="140820" y="1104607"/>
            <a:ext cx="2329664" cy="13258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/>
              <a:t>Bathymétrie </a:t>
            </a:r>
          </a:p>
          <a:p>
            <a:pPr algn="ctr"/>
            <a:r>
              <a:rPr lang="fr-FR" sz="2000" dirty="0" err="1" smtClean="0">
                <a:solidFill>
                  <a:schemeClr val="tx1"/>
                </a:solidFill>
              </a:rPr>
              <a:t>Bathymetrie</a:t>
            </a:r>
            <a:endParaRPr lang="fr-FR" sz="2000" dirty="0">
              <a:solidFill>
                <a:schemeClr val="tx1"/>
              </a:solidFill>
            </a:endParaRPr>
          </a:p>
        </p:txBody>
      </p:sp>
      <p:cxnSp>
        <p:nvCxnSpPr>
          <p:cNvPr id="22" name="Connecteur droit avec flèche 21"/>
          <p:cNvCxnSpPr/>
          <p:nvPr/>
        </p:nvCxnSpPr>
        <p:spPr>
          <a:xfrm>
            <a:off x="2178864" y="2211948"/>
            <a:ext cx="1409190" cy="290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564851" y="6309794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8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45101249-27D3-D9FE-B442-12B72C22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" y="255809"/>
            <a:ext cx="12192000" cy="1012599"/>
          </a:xfrm>
        </p:spPr>
        <p:txBody>
          <a:bodyPr>
            <a:normAutofit/>
          </a:bodyPr>
          <a:lstStyle/>
          <a:p>
            <a:pPr algn="ctr"/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sorties du model 1/12 et à 1/36 degré</a:t>
            </a:r>
          </a:p>
        </p:txBody>
      </p:sp>
      <p:pic>
        <p:nvPicPr>
          <p:cNvPr id="5" name="Espace réservé du contenu 3">
            <a:extLst>
              <a:ext uri="{FF2B5EF4-FFF2-40B4-BE49-F238E27FC236}">
                <a16:creationId xmlns:a16="http://schemas.microsoft.com/office/drawing/2014/main" id="{2BD27EC2-AFC8-1257-8DE9-A767609AA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257" b="8960"/>
          <a:stretch/>
        </p:blipFill>
        <p:spPr>
          <a:xfrm>
            <a:off x="4279388" y="900276"/>
            <a:ext cx="7912608" cy="25733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FC184F5-2682-7450-276C-5A146FAB4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751" y="3525603"/>
            <a:ext cx="8019288" cy="2645204"/>
          </a:xfrm>
          <a:prstGeom prst="rect">
            <a:avLst/>
          </a:prstGeom>
        </p:spPr>
      </p:pic>
      <p:grpSp>
        <p:nvGrpSpPr>
          <p:cNvPr id="8" name="Groupe 7"/>
          <p:cNvGrpSpPr/>
          <p:nvPr/>
        </p:nvGrpSpPr>
        <p:grpSpPr>
          <a:xfrm>
            <a:off x="-2" y="-5090"/>
            <a:ext cx="12208041" cy="6863090"/>
            <a:chOff x="-2" y="0"/>
            <a:chExt cx="12208041" cy="686309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Résultats (2/6)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e 10"/>
            <p:cNvGrpSpPr/>
            <p:nvPr/>
          </p:nvGrpSpPr>
          <p:grpSpPr>
            <a:xfrm>
              <a:off x="-2" y="6096008"/>
              <a:ext cx="12192002" cy="767082"/>
              <a:chOff x="-1" y="6323147"/>
              <a:chExt cx="12192002" cy="76708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49955"/>
                <a:ext cx="12192002" cy="329607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Ellipse 13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Ellipse 1"/>
          <p:cNvSpPr/>
          <p:nvPr/>
        </p:nvSpPr>
        <p:spPr>
          <a:xfrm>
            <a:off x="176462" y="946484"/>
            <a:ext cx="3545305" cy="224069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 err="1"/>
              <a:t>Vorticité</a:t>
            </a:r>
            <a:r>
              <a:rPr lang="fr-FR" dirty="0"/>
              <a:t> de surface  : tourbillon anticyclonique </a:t>
            </a:r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3406542" y="2624010"/>
            <a:ext cx="782209" cy="197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 flipH="1">
            <a:off x="176462" y="4823845"/>
            <a:ext cx="3320717" cy="124211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Indice de l’Upwelling côtier</a:t>
            </a:r>
            <a:endParaRPr lang="fr-FR" dirty="0"/>
          </a:p>
        </p:txBody>
      </p:sp>
      <p:cxnSp>
        <p:nvCxnSpPr>
          <p:cNvPr id="27" name="Connecteur droit avec flèche 26"/>
          <p:cNvCxnSpPr/>
          <p:nvPr/>
        </p:nvCxnSpPr>
        <p:spPr>
          <a:xfrm flipV="1">
            <a:off x="3406542" y="5069305"/>
            <a:ext cx="782209" cy="128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568752" y="6211669"/>
            <a:ext cx="4154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24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B4A63ABA-5290-E48F-0477-627399796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467702"/>
            <a:ext cx="10515600" cy="567563"/>
          </a:xfrm>
        </p:spPr>
        <p:txBody>
          <a:bodyPr>
            <a:normAutofit/>
          </a:bodyPr>
          <a:lstStyle/>
          <a:p>
            <a:r>
              <a:rPr kumimoji="0" lang="fr-FR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analyse des sorties du model 1/12 et à 1/36 degré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Espace réservé du contenu 3">
            <a:extLst>
              <a:ext uri="{FF2B5EF4-FFF2-40B4-BE49-F238E27FC236}">
                <a16:creationId xmlns:a16="http://schemas.microsoft.com/office/drawing/2014/main" id="{F7F35BC3-C47D-001C-AF89-0FF82D6FF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3167"/>
          <a:stretch/>
        </p:blipFill>
        <p:spPr>
          <a:xfrm>
            <a:off x="47991" y="1070489"/>
            <a:ext cx="5653494" cy="34629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C476C8D-4989-8BA8-5003-1F48CAD7BC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33" b="4133"/>
          <a:stretch/>
        </p:blipFill>
        <p:spPr>
          <a:xfrm>
            <a:off x="5875482" y="1086031"/>
            <a:ext cx="6126346" cy="401421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4CCE845-4166-0445-AD31-CBCF041BECFA}"/>
              </a:ext>
            </a:extLst>
          </p:cNvPr>
          <p:cNvSpPr txBox="1"/>
          <p:nvPr/>
        </p:nvSpPr>
        <p:spPr>
          <a:xfrm>
            <a:off x="6659880" y="5237100"/>
            <a:ext cx="5341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Profondeur de l’Isotherme 20 et vitesse verticale</a:t>
            </a:r>
          </a:p>
        </p:txBody>
      </p:sp>
      <p:grpSp>
        <p:nvGrpSpPr>
          <p:cNvPr id="9" name="Groupe 8"/>
          <p:cNvGrpSpPr/>
          <p:nvPr/>
        </p:nvGrpSpPr>
        <p:grpSpPr>
          <a:xfrm>
            <a:off x="-2" y="0"/>
            <a:ext cx="12208041" cy="6863090"/>
            <a:chOff x="-2" y="0"/>
            <a:chExt cx="12208041" cy="686309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Résultats(3/6)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e 10"/>
            <p:cNvGrpSpPr/>
            <p:nvPr/>
          </p:nvGrpSpPr>
          <p:grpSpPr>
            <a:xfrm>
              <a:off x="-2" y="6096008"/>
              <a:ext cx="12192002" cy="767082"/>
              <a:chOff x="-1" y="6323147"/>
              <a:chExt cx="12192002" cy="76708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54381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Ellipse 13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47991" y="5237100"/>
            <a:ext cx="5460853" cy="67909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Différence SST du large  à la cote  Ghana-cote d’ivoire au 12 et 36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71778" y="635185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44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D1F519-32EF-4FFC-470D-6BE42CC41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843" y="491018"/>
            <a:ext cx="8854196" cy="573659"/>
          </a:xfrm>
        </p:spPr>
        <p:txBody>
          <a:bodyPr>
            <a:norm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rivière et sans marée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C76A5A63-3B1F-5A2C-EC3A-D2021C60B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935" b="10563"/>
          <a:stretch/>
        </p:blipFill>
        <p:spPr>
          <a:xfrm>
            <a:off x="725278" y="1151032"/>
            <a:ext cx="11411713" cy="246583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ACC4832-918D-A4B2-7543-D9708FE88E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8" b="9627"/>
          <a:stretch/>
        </p:blipFill>
        <p:spPr>
          <a:xfrm>
            <a:off x="313342" y="3999460"/>
            <a:ext cx="11581354" cy="246583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A7F6E30-8F15-4668-504C-9A39D6025BAD}"/>
              </a:ext>
            </a:extLst>
          </p:cNvPr>
          <p:cNvSpPr txBox="1"/>
          <p:nvPr/>
        </p:nvSpPr>
        <p:spPr>
          <a:xfrm>
            <a:off x="313342" y="3673204"/>
            <a:ext cx="4071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 vitesse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59AC77F-5E88-7060-74FC-9DFB5305C3C8}"/>
              </a:ext>
            </a:extLst>
          </p:cNvPr>
          <p:cNvSpPr txBox="1"/>
          <p:nvPr/>
        </p:nvSpPr>
        <p:spPr>
          <a:xfrm>
            <a:off x="313342" y="847817"/>
            <a:ext cx="2632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Courant de surface</a:t>
            </a:r>
          </a:p>
        </p:txBody>
      </p:sp>
      <p:grpSp>
        <p:nvGrpSpPr>
          <p:cNvPr id="9" name="Groupe 8"/>
          <p:cNvGrpSpPr/>
          <p:nvPr/>
        </p:nvGrpSpPr>
        <p:grpSpPr>
          <a:xfrm>
            <a:off x="-71046" y="0"/>
            <a:ext cx="12263046" cy="7082649"/>
            <a:chOff x="-55007" y="0"/>
            <a:chExt cx="12263046" cy="708264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Résultats (4/5)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oupe 10"/>
            <p:cNvGrpSpPr/>
            <p:nvPr/>
          </p:nvGrpSpPr>
          <p:grpSpPr>
            <a:xfrm>
              <a:off x="-55007" y="6315567"/>
              <a:ext cx="12247007" cy="767082"/>
              <a:chOff x="-55006" y="6542706"/>
              <a:chExt cx="12247007" cy="76708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55006" y="6601066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Ellipse 13"/>
              <p:cNvSpPr/>
              <p:nvPr/>
            </p:nvSpPr>
            <p:spPr>
              <a:xfrm rot="10800000" flipH="1" flipV="1">
                <a:off x="5573485" y="6542706"/>
                <a:ext cx="1045029" cy="767082"/>
              </a:xfrm>
              <a:prstGeom prst="ellipse">
                <a:avLst/>
              </a:prstGeom>
              <a:blipFill dpi="0"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" name="Rectangle 4"/>
          <p:cNvSpPr/>
          <p:nvPr/>
        </p:nvSpPr>
        <p:spPr>
          <a:xfrm>
            <a:off x="11083842" y="6335496"/>
            <a:ext cx="7204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7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540C560-BB8B-6901-B80B-267AB56388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43" b="9591"/>
          <a:stretch/>
        </p:blipFill>
        <p:spPr>
          <a:xfrm>
            <a:off x="3535676" y="1046724"/>
            <a:ext cx="8656320" cy="27432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D437D98-A2A0-9A48-0F43-58C89F4107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08" b="10086"/>
          <a:stretch/>
        </p:blipFill>
        <p:spPr>
          <a:xfrm>
            <a:off x="3939145" y="3620924"/>
            <a:ext cx="8252851" cy="2529190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252B7193-C3B1-3EDB-A2DC-F7268DAD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283" y="574950"/>
            <a:ext cx="6544991" cy="573659"/>
          </a:xfrm>
        </p:spPr>
        <p:txBody>
          <a:bodyPr>
            <a:norm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avec rivière et sans marée</a:t>
            </a:r>
          </a:p>
        </p:txBody>
      </p:sp>
      <p:grpSp>
        <p:nvGrpSpPr>
          <p:cNvPr id="8" name="Groupe 7"/>
          <p:cNvGrpSpPr/>
          <p:nvPr/>
        </p:nvGrpSpPr>
        <p:grpSpPr>
          <a:xfrm>
            <a:off x="0" y="-5090"/>
            <a:ext cx="12208041" cy="6863090"/>
            <a:chOff x="-2" y="0"/>
            <a:chExt cx="12208041" cy="686309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Résultats(5/5)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Groupe 11"/>
            <p:cNvGrpSpPr/>
            <p:nvPr/>
          </p:nvGrpSpPr>
          <p:grpSpPr>
            <a:xfrm>
              <a:off x="-2" y="6096008"/>
              <a:ext cx="12192002" cy="767082"/>
              <a:chOff x="-1" y="6323147"/>
              <a:chExt cx="12192002" cy="76708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54381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" name="Ellipse 14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Ellipse 1"/>
          <p:cNvSpPr/>
          <p:nvPr/>
        </p:nvSpPr>
        <p:spPr>
          <a:xfrm>
            <a:off x="465220" y="1218126"/>
            <a:ext cx="2064617" cy="119353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Variation de de la SSS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2540266" y="1903663"/>
            <a:ext cx="876702" cy="704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465220" y="4523874"/>
            <a:ext cx="2064617" cy="137962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defRPr/>
            </a:pPr>
            <a:r>
              <a:rPr lang="fr-FR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Variation de la SST</a:t>
            </a:r>
            <a:endParaRPr lang="fr-FR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529837" y="5470358"/>
            <a:ext cx="1409308" cy="27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1242216" y="6262240"/>
            <a:ext cx="6976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65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107035C-E830-2925-C430-5B5EF51DED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2" b="7304"/>
          <a:stretch/>
        </p:blipFill>
        <p:spPr>
          <a:xfrm>
            <a:off x="304800" y="1233274"/>
            <a:ext cx="10472928" cy="235405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27FD6A7-DAF4-1B6B-C31A-9B9F7BB8B4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33" b="12076"/>
          <a:stretch/>
        </p:blipFill>
        <p:spPr>
          <a:xfrm>
            <a:off x="304800" y="3899298"/>
            <a:ext cx="10887740" cy="225440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5B7BBFC-E94C-4502-0375-89AB7E82D56E}"/>
              </a:ext>
            </a:extLst>
          </p:cNvPr>
          <p:cNvSpPr txBox="1"/>
          <p:nvPr/>
        </p:nvSpPr>
        <p:spPr>
          <a:xfrm>
            <a:off x="963168" y="921306"/>
            <a:ext cx="4145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Salinité de surface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68B8711-B9C2-85F2-8AA8-536F7B9C1DD2}"/>
              </a:ext>
            </a:extLst>
          </p:cNvPr>
          <p:cNvSpPr txBox="1"/>
          <p:nvPr/>
        </p:nvSpPr>
        <p:spPr>
          <a:xfrm>
            <a:off x="304800" y="355864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Température de surface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C4E07150-3E5E-5E35-813B-FCC17BEBC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047" y="390807"/>
            <a:ext cx="11643360" cy="573659"/>
          </a:xfrm>
        </p:spPr>
        <p:txBody>
          <a:bodyPr>
            <a:norm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omparaison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rivière et sans marée</a:t>
            </a:r>
          </a:p>
        </p:txBody>
      </p:sp>
      <p:grpSp>
        <p:nvGrpSpPr>
          <p:cNvPr id="11" name="Groupe 10"/>
          <p:cNvGrpSpPr/>
          <p:nvPr/>
        </p:nvGrpSpPr>
        <p:grpSpPr>
          <a:xfrm>
            <a:off x="-2" y="0"/>
            <a:ext cx="12208041" cy="6863090"/>
            <a:chOff x="-2" y="0"/>
            <a:chExt cx="12208041" cy="68630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Données et méthode (1/4)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e 12"/>
            <p:cNvGrpSpPr/>
            <p:nvPr/>
          </p:nvGrpSpPr>
          <p:grpSpPr>
            <a:xfrm>
              <a:off x="-2" y="6096008"/>
              <a:ext cx="12192002" cy="767082"/>
              <a:chOff x="-1" y="6323147"/>
              <a:chExt cx="12192002" cy="76708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54381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" name="Ellipse 15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11298739" y="6351852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78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8D1DD2E-9C36-BF5C-1A53-3E92043C175B}"/>
              </a:ext>
            </a:extLst>
          </p:cNvPr>
          <p:cNvSpPr txBox="1"/>
          <p:nvPr/>
        </p:nvSpPr>
        <p:spPr>
          <a:xfrm>
            <a:off x="1194815" y="1431576"/>
            <a:ext cx="8170857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RECONTRÉS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capacités des PC à tourner les simulations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-temps de travails limités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B422106-49AD-5793-F4E5-886F86FA0C26}"/>
              </a:ext>
            </a:extLst>
          </p:cNvPr>
          <p:cNvSpPr txBox="1"/>
          <p:nvPr/>
        </p:nvSpPr>
        <p:spPr>
          <a:xfrm>
            <a:off x="1194815" y="3137297"/>
            <a:ext cx="6449569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RECOMMANDATION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plus de temps de travail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impliquer les étudiants dans la création des codes</a:t>
            </a:r>
          </a:p>
          <a:p>
            <a:endParaRPr lang="fr-FR" sz="2400" dirty="0"/>
          </a:p>
        </p:txBody>
      </p:sp>
      <p:cxnSp>
        <p:nvCxnSpPr>
          <p:cNvPr id="11" name="Connecteur : en angle 10">
            <a:extLst>
              <a:ext uri="{FF2B5EF4-FFF2-40B4-BE49-F238E27FC236}">
                <a16:creationId xmlns:a16="http://schemas.microsoft.com/office/drawing/2014/main" id="{EEE89B98-9DD5-F210-E910-E0B878D04DFA}"/>
              </a:ext>
            </a:extLst>
          </p:cNvPr>
          <p:cNvCxnSpPr/>
          <p:nvPr/>
        </p:nvCxnSpPr>
        <p:spPr>
          <a:xfrm>
            <a:off x="2182368" y="4852416"/>
            <a:ext cx="97536" cy="127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4E588AF4-80A4-958B-F547-A9FB8D744B9D}"/>
              </a:ext>
            </a:extLst>
          </p:cNvPr>
          <p:cNvSpPr txBox="1"/>
          <p:nvPr/>
        </p:nvSpPr>
        <p:spPr>
          <a:xfrm>
            <a:off x="481584" y="4760321"/>
            <a:ext cx="981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COMMENT COMPTEZ VOUS UTILISER CES OUTILS OU CONNAISSANCES DANS VOS PROJETS PERSONNET</a:t>
            </a:r>
          </a:p>
        </p:txBody>
      </p:sp>
      <p:sp>
        <p:nvSpPr>
          <p:cNvPr id="13" name="Bouton d'action : Aide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9E55D82-1422-BFD3-8656-DEC8E2772B04}"/>
              </a:ext>
            </a:extLst>
          </p:cNvPr>
          <p:cNvSpPr/>
          <p:nvPr/>
        </p:nvSpPr>
        <p:spPr>
          <a:xfrm>
            <a:off x="10479024" y="4490835"/>
            <a:ext cx="926592" cy="908304"/>
          </a:xfrm>
          <a:prstGeom prst="actionButtonHelp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isometricRightUp"/>
              <a:lightRig rig="threePt" dir="t"/>
            </a:scene3d>
          </a:bodyPr>
          <a:lstStyle/>
          <a:p>
            <a:pPr algn="ctr"/>
            <a:endParaRPr lang="fr-FR">
              <a:noFill/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-2" y="0"/>
            <a:ext cx="12208041" cy="6863090"/>
            <a:chOff x="-2" y="0"/>
            <a:chExt cx="12208041" cy="686309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FR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fr-F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DIFFICULTÉS RECONTRÉS ET RECOMMANDATION</a:t>
              </a:r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" name="Groupe 13"/>
            <p:cNvGrpSpPr/>
            <p:nvPr/>
          </p:nvGrpSpPr>
          <p:grpSpPr>
            <a:xfrm>
              <a:off x="-2" y="6096008"/>
              <a:ext cx="12192002" cy="767082"/>
              <a:chOff x="-1" y="6323147"/>
              <a:chExt cx="12192002" cy="76708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54381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" name="Ellipse 16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2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Rectangle 1"/>
          <p:cNvSpPr/>
          <p:nvPr/>
        </p:nvSpPr>
        <p:spPr>
          <a:xfrm>
            <a:off x="11405616" y="622724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22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E0FF-850C-7F24-063F-8A942537F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3" y="179614"/>
            <a:ext cx="9666517" cy="5780315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endParaRPr lang="fr-FR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fr-FR" sz="6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MERCI </a:t>
            </a:r>
            <a:r>
              <a:rPr lang="fr-FR" sz="6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VOTRE AIMABLE ATTENTION!!!</a:t>
            </a:r>
            <a:endParaRPr lang="fr-F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E3A38-0A34-4333-B82F-842FEBC57B83}" type="datetime1">
              <a:rPr lang="fr-FR" smtClean="0"/>
              <a:t>08/10/2026</a:t>
            </a:fld>
            <a:endParaRPr lang="fr-FR"/>
          </a:p>
        </p:txBody>
      </p:sp>
      <p:grpSp>
        <p:nvGrpSpPr>
          <p:cNvPr id="10" name="Groupe 9"/>
          <p:cNvGrpSpPr/>
          <p:nvPr/>
        </p:nvGrpSpPr>
        <p:grpSpPr>
          <a:xfrm>
            <a:off x="-2" y="0"/>
            <a:ext cx="12208041" cy="6863090"/>
            <a:chOff x="-2" y="0"/>
            <a:chExt cx="12208041" cy="686309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001681-FE73-59ED-C8BF-E5F857DBF22A}"/>
                </a:ext>
              </a:extLst>
            </p:cNvPr>
            <p:cNvSpPr/>
            <p:nvPr/>
          </p:nvSpPr>
          <p:spPr>
            <a:xfrm>
              <a:off x="0" y="0"/>
              <a:ext cx="12208039" cy="46522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fr-FR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Groupe 11"/>
            <p:cNvGrpSpPr/>
            <p:nvPr/>
          </p:nvGrpSpPr>
          <p:grpSpPr>
            <a:xfrm>
              <a:off x="-2" y="6096008"/>
              <a:ext cx="12192002" cy="767082"/>
              <a:chOff x="-1" y="6323147"/>
              <a:chExt cx="12192002" cy="76708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716574B-DDCA-8D6B-F284-197E54D11FE0}"/>
                  </a:ext>
                </a:extLst>
              </p:cNvPr>
              <p:cNvSpPr/>
              <p:nvPr/>
            </p:nvSpPr>
            <p:spPr>
              <a:xfrm>
                <a:off x="0" y="6763658"/>
                <a:ext cx="12192001" cy="32657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6CA0679-3EB8-DD82-1676-18D5693E7BDB}"/>
                  </a:ext>
                </a:extLst>
              </p:cNvPr>
              <p:cNvSpPr/>
              <p:nvPr/>
            </p:nvSpPr>
            <p:spPr>
              <a:xfrm>
                <a:off x="-1" y="6454381"/>
                <a:ext cx="12191998" cy="32518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" name="Ellipse 14"/>
              <p:cNvSpPr/>
              <p:nvPr/>
            </p:nvSpPr>
            <p:spPr>
              <a:xfrm rot="10800000" flipH="1" flipV="1">
                <a:off x="5573483" y="6323147"/>
                <a:ext cx="1045029" cy="767082"/>
              </a:xfrm>
              <a:prstGeom prst="ellipse">
                <a:avLst/>
              </a:prstGeom>
              <a:blipFill dpi="0" rotWithShape="1">
                <a:blip r:embed="rId2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4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296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8912</TotalTime>
  <Words>575</Words>
  <Application>Microsoft Office PowerPoint</Application>
  <PresentationFormat>Grand écran</PresentationFormat>
  <Paragraphs>115</Paragraphs>
  <Slides>15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analyse des sorties du model 1/12 et à 1/36 degré</vt:lpstr>
      <vt:lpstr> analyse des sorties du model 1/12 et à 1/36 degré</vt:lpstr>
      <vt:lpstr>comparaison avec rivière et sans marée</vt:lpstr>
      <vt:lpstr> comparaison avec rivière et sans marée</vt:lpstr>
      <vt:lpstr> Comparaison avec rivière et sans marée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</dc:creator>
  <cp:lastModifiedBy>USER</cp:lastModifiedBy>
  <cp:revision>169</cp:revision>
  <dcterms:created xsi:type="dcterms:W3CDTF">2024-07-01T10:01:21Z</dcterms:created>
  <dcterms:modified xsi:type="dcterms:W3CDTF">2026-10-08T18:18:48Z</dcterms:modified>
</cp:coreProperties>
</file>