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318" r:id="rId2"/>
    <p:sldId id="261" r:id="rId3"/>
    <p:sldId id="365" r:id="rId4"/>
    <p:sldId id="368" r:id="rId5"/>
    <p:sldId id="369" r:id="rId6"/>
    <p:sldId id="263" r:id="rId7"/>
    <p:sldId id="364" r:id="rId8"/>
    <p:sldId id="371" r:id="rId9"/>
    <p:sldId id="370"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extLst>
      <p:ext uri="{19B8F6BF-5375-455C-9EA6-DF929625EA0E}">
        <p15:presenceInfo xmlns:p15="http://schemas.microsoft.com/office/powerpoint/2012/main" userId="D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3447" autoAdjust="0"/>
  </p:normalViewPr>
  <p:slideViewPr>
    <p:cSldViewPr snapToGrid="0">
      <p:cViewPr varScale="1">
        <p:scale>
          <a:sx n="69" d="100"/>
          <a:sy n="69" d="100"/>
        </p:scale>
        <p:origin x="78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861336-B27F-41B1-A2A0-A12613E74EDD}" type="datetimeFigureOut">
              <a:rPr lang="fr-CM" smtClean="0"/>
              <a:t>09/10/2026</a:t>
            </a:fld>
            <a:endParaRPr lang="fr-C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C0EE82-B8C2-4278-B928-9517A1B256B8}" type="slidenum">
              <a:rPr lang="fr-CM" smtClean="0"/>
              <a:t>‹n°›</a:t>
            </a:fld>
            <a:endParaRPr lang="fr-CM"/>
          </a:p>
        </p:txBody>
      </p:sp>
    </p:spTree>
    <p:extLst>
      <p:ext uri="{BB962C8B-B14F-4D97-AF65-F5344CB8AC3E}">
        <p14:creationId xmlns:p14="http://schemas.microsoft.com/office/powerpoint/2010/main" val="1792501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pPr rtl="0"/>
            <a:r>
              <a:rPr lang="fr-TG" sz="1200" b="0" i="0" kern="1200" dirty="0">
                <a:solidFill>
                  <a:schemeClr val="tx1"/>
                </a:solidFill>
                <a:effectLst/>
                <a:latin typeface="+mn-lt"/>
                <a:ea typeface="+mn-ea"/>
                <a:cs typeface="+mn-cs"/>
              </a:rPr>
              <a:t>Partie 4 — Recherche et sauvetage : personne à la mer et dérive de navire (effet de dérive dû au vent ou « </a:t>
            </a:r>
            <a:r>
              <a:rPr lang="fr-TG" sz="1200" b="0" i="0" kern="1200" dirty="0" err="1">
                <a:solidFill>
                  <a:schemeClr val="tx1"/>
                </a:solidFill>
                <a:effectLst/>
                <a:latin typeface="+mn-lt"/>
                <a:ea typeface="+mn-ea"/>
                <a:cs typeface="+mn-cs"/>
              </a:rPr>
              <a:t>Leeway</a:t>
            </a:r>
            <a:r>
              <a:rPr lang="fr-TG" sz="1200" b="0" i="0" kern="1200" dirty="0">
                <a:solidFill>
                  <a:schemeClr val="tx1"/>
                </a:solidFill>
                <a:effectLst/>
                <a:latin typeface="+mn-lt"/>
                <a:ea typeface="+mn-ea"/>
                <a:cs typeface="+mn-cs"/>
              </a:rPr>
              <a:t> »)</a:t>
            </a:r>
            <a:br>
              <a:rPr lang="fr-TG" sz="1200" b="0" i="0" kern="1200" dirty="0">
                <a:solidFill>
                  <a:schemeClr val="tx1"/>
                </a:solidFill>
                <a:effectLst/>
                <a:latin typeface="+mn-lt"/>
                <a:ea typeface="+mn-ea"/>
                <a:cs typeface="+mn-cs"/>
              </a:rPr>
            </a:br>
            <a:r>
              <a:rPr lang="fr-TG" sz="1200" b="0" i="0" kern="1200" dirty="0">
                <a:solidFill>
                  <a:schemeClr val="tx1"/>
                </a:solidFill>
                <a:effectLst/>
                <a:latin typeface="+mn-lt"/>
                <a:ea typeface="+mn-ea"/>
                <a:cs typeface="+mn-cs"/>
              </a:rPr>
              <a:t>4.1 Contexte</a:t>
            </a:r>
            <a:br>
              <a:rPr lang="fr-TG" sz="1200" b="0" i="0" kern="1200" dirty="0">
                <a:solidFill>
                  <a:schemeClr val="tx1"/>
                </a:solidFill>
                <a:effectLst/>
                <a:latin typeface="+mn-lt"/>
                <a:ea typeface="+mn-ea"/>
                <a:cs typeface="+mn-cs"/>
              </a:rPr>
            </a:br>
            <a:br>
              <a:rPr lang="fr-TG" sz="1200" b="0" i="0" kern="1200" dirty="0">
                <a:solidFill>
                  <a:schemeClr val="tx1"/>
                </a:solidFill>
                <a:effectLst/>
                <a:latin typeface="+mn-lt"/>
                <a:ea typeface="+mn-ea"/>
                <a:cs typeface="+mn-cs"/>
              </a:rPr>
            </a:br>
            <a:r>
              <a:rPr lang="fr-TG" sz="1200" b="0" i="0" kern="1200" dirty="0">
                <a:solidFill>
                  <a:schemeClr val="tx1"/>
                </a:solidFill>
                <a:effectLst/>
                <a:latin typeface="+mn-lt"/>
                <a:ea typeface="+mn-ea"/>
                <a:cs typeface="+mn-cs"/>
              </a:rPr>
              <a:t>Le modèle « </a:t>
            </a:r>
            <a:r>
              <a:rPr lang="fr-TG" sz="1200" b="0" i="0" kern="1200" dirty="0" err="1">
                <a:solidFill>
                  <a:schemeClr val="tx1"/>
                </a:solidFill>
                <a:effectLst/>
                <a:latin typeface="+mn-lt"/>
                <a:ea typeface="+mn-ea"/>
                <a:cs typeface="+mn-cs"/>
              </a:rPr>
              <a:t>Leeway</a:t>
            </a:r>
            <a:r>
              <a:rPr lang="fr-TG" sz="1200" b="0" i="0" kern="1200" dirty="0">
                <a:solidFill>
                  <a:schemeClr val="tx1"/>
                </a:solidFill>
                <a:effectLst/>
                <a:latin typeface="+mn-lt"/>
                <a:ea typeface="+mn-ea"/>
                <a:cs typeface="+mn-cs"/>
              </a:rPr>
              <a:t> » (Breivik et al., 2011) prédit la dérive d'un objet flottant (personne, radeau de survie, navire en avarie) en combinant :</a:t>
            </a:r>
            <a:br>
              <a:rPr lang="fr-TG" sz="1200" b="0" i="0" kern="1200" dirty="0">
                <a:solidFill>
                  <a:schemeClr val="tx1"/>
                </a:solidFill>
                <a:effectLst/>
                <a:latin typeface="+mn-lt"/>
                <a:ea typeface="+mn-ea"/>
                <a:cs typeface="+mn-cs"/>
              </a:rPr>
            </a:br>
            <a:br>
              <a:rPr lang="fr-TG" sz="1200" b="0" i="0" kern="1200" dirty="0">
                <a:solidFill>
                  <a:schemeClr val="tx1"/>
                </a:solidFill>
                <a:effectLst/>
                <a:latin typeface="+mn-lt"/>
                <a:ea typeface="+mn-ea"/>
                <a:cs typeface="+mn-cs"/>
              </a:rPr>
            </a:br>
            <a:r>
              <a:rPr lang="fr-TG" sz="1200" b="0" i="0" kern="1200" dirty="0">
                <a:solidFill>
                  <a:schemeClr val="tx1"/>
                </a:solidFill>
                <a:effectLst/>
                <a:latin typeface="+mn-lt"/>
                <a:ea typeface="+mn-ea"/>
                <a:cs typeface="+mn-cs"/>
              </a:rPr>
              <a:t>où α (le « coefficient de dérive » ou *</a:t>
            </a:r>
            <a:r>
              <a:rPr lang="fr-TG" sz="1200" b="0" i="0" kern="1200" dirty="0" err="1">
                <a:solidFill>
                  <a:schemeClr val="tx1"/>
                </a:solidFill>
                <a:effectLst/>
                <a:latin typeface="+mn-lt"/>
                <a:ea typeface="+mn-ea"/>
                <a:cs typeface="+mn-cs"/>
              </a:rPr>
              <a:t>leeway</a:t>
            </a:r>
            <a:r>
              <a:rPr lang="fr-TG" sz="1200" b="0" i="0" kern="1200" dirty="0">
                <a:solidFill>
                  <a:schemeClr val="tx1"/>
                </a:solidFill>
                <a:effectLst/>
                <a:latin typeface="+mn-lt"/>
                <a:ea typeface="+mn-ea"/>
                <a:cs typeface="+mn-cs"/>
              </a:rPr>
              <a:t> coefficient*) et un décalage angulaire par rapport à la direction du vent sont étalonnés empiriquement selon la catégorie d'objet (plus de 60 catégories sont intégrées dans </a:t>
            </a:r>
            <a:r>
              <a:rPr lang="fr-TG" sz="1200" b="0" i="0" kern="1200" dirty="0" err="1">
                <a:solidFill>
                  <a:schemeClr val="tx1"/>
                </a:solidFill>
                <a:effectLst/>
                <a:latin typeface="+mn-lt"/>
                <a:ea typeface="+mn-ea"/>
                <a:cs typeface="+mn-cs"/>
              </a:rPr>
              <a:t>OpenDrift</a:t>
            </a:r>
            <a:r>
              <a:rPr lang="fr-TG" sz="1200" b="0" i="0" kern="1200" dirty="0">
                <a:solidFill>
                  <a:schemeClr val="tx1"/>
                </a:solidFill>
                <a:effectLst/>
                <a:latin typeface="+mn-lt"/>
                <a:ea typeface="+mn-ea"/>
                <a:cs typeface="+mn-cs"/>
              </a:rPr>
              <a:t>, allant de la « personne à la mer avec gilet de sauvetage en position verticale » au « navire de pêche à la dérive »). Il s'agit du modèle utilisé de manière opérationnelle par les autorités maritimes de recherche et de sauvetage (SAR) dans le monde entier (conformément aux directives de l'IMRF et de </a:t>
            </a:r>
            <a:r>
              <a:rPr lang="fr-TG" sz="1200" b="0" i="0" kern="1200" dirty="0" err="1">
                <a:solidFill>
                  <a:schemeClr val="tx1"/>
                </a:solidFill>
                <a:effectLst/>
                <a:latin typeface="+mn-lt"/>
                <a:ea typeface="+mn-ea"/>
                <a:cs typeface="+mn-cs"/>
              </a:rPr>
              <a:t>Cospas-Sarsat</a:t>
            </a:r>
            <a:r>
              <a:rPr lang="fr-TG" sz="1200" b="0" i="0" kern="1200" dirty="0">
                <a:solidFill>
                  <a:schemeClr val="tx1"/>
                </a:solidFill>
                <a:effectLst/>
                <a:latin typeface="+mn-lt"/>
                <a:ea typeface="+mn-ea"/>
                <a:cs typeface="+mn-cs"/>
              </a:rPr>
              <a:t>).</a:t>
            </a:r>
            <a:br>
              <a:rPr lang="fr-TG" sz="1200" b="0" i="0" kern="1200" dirty="0">
                <a:solidFill>
                  <a:schemeClr val="tx1"/>
                </a:solidFill>
                <a:effectLst/>
                <a:latin typeface="+mn-lt"/>
                <a:ea typeface="+mn-ea"/>
                <a:cs typeface="+mn-cs"/>
              </a:rPr>
            </a:br>
            <a:br>
              <a:rPr lang="fr-TG" sz="1200" b="0" i="0" kern="1200" dirty="0">
                <a:solidFill>
                  <a:schemeClr val="tx1"/>
                </a:solidFill>
                <a:effectLst/>
                <a:latin typeface="+mn-lt"/>
                <a:ea typeface="+mn-ea"/>
                <a:cs typeface="+mn-cs"/>
              </a:rPr>
            </a:br>
            <a:r>
              <a:rPr lang="fr-TG" sz="1200" b="0" i="0" kern="1200" dirty="0">
                <a:solidFill>
                  <a:schemeClr val="tx1"/>
                </a:solidFill>
                <a:effectLst/>
                <a:latin typeface="+mn-lt"/>
                <a:ea typeface="+mn-ea"/>
                <a:cs typeface="+mn-cs"/>
              </a:rPr>
              <a:t>Compte tenu de la fréquence des enlèvements liés à la piraterie et des incidents impliquant de petites embarcations signalés dans le golfe de Guinée (rapports annuels sur la piraterie de l'ICC IMB), un exercice SAR adapté au contexte local présente un intérêt direct pour les partenaires des garde-côtes et de la protection civile du réseau GGOSSS.</a:t>
            </a:r>
            <a:endParaRPr lang="fr-FR" sz="1200" b="0" i="0" kern="1200" dirty="0">
              <a:solidFill>
                <a:schemeClr val="tx1"/>
              </a:solidFill>
              <a:effectLst/>
              <a:latin typeface="+mn-lt"/>
              <a:ea typeface="+mn-ea"/>
              <a:cs typeface="+mn-cs"/>
            </a:endParaRPr>
          </a:p>
          <a:p>
            <a:pPr rtl="0"/>
            <a:endParaRPr lang="fr-FR" sz="1200" b="0" i="0" kern="1200" dirty="0">
              <a:solidFill>
                <a:schemeClr val="tx1"/>
              </a:solidFill>
              <a:effectLst/>
              <a:latin typeface="+mn-lt"/>
              <a:ea typeface="+mn-ea"/>
              <a:cs typeface="+mn-cs"/>
            </a:endParaRPr>
          </a:p>
          <a:p>
            <a:pPr rtl="0"/>
            <a:r>
              <a:rPr lang="fr-FR" b="0" i="0" dirty="0">
                <a:solidFill>
                  <a:schemeClr val="tx1"/>
                </a:solidFill>
                <a:effectLst/>
                <a:latin typeface="+mn-lt"/>
              </a:rPr>
              <a:t>; les deux centres de dérive sont distants de 1,0 km. Forme : nuage GLORYS12 ~6,4 × 4,4 km (1 écart-type, axe orienté à 137°) ; nuage CROCO ~5,3 × 4,7 km (axe orienté à 164°).</a:t>
            </a:r>
            <a:endParaRPr lang="fr-TG" sz="1200" b="0" i="0" kern="1200" dirty="0">
              <a:solidFill>
                <a:schemeClr val="tx1"/>
              </a:solidFill>
              <a:effectLst/>
              <a:latin typeface="+mn-lt"/>
              <a:ea typeface="+mn-ea"/>
              <a:cs typeface="+mn-cs"/>
            </a:endParaRPr>
          </a:p>
          <a:p>
            <a:endParaRPr lang="fr-TG" dirty="0"/>
          </a:p>
        </p:txBody>
      </p:sp>
      <p:sp>
        <p:nvSpPr>
          <p:cNvPr id="4" name="Espace réservé du numéro de diapositive 3"/>
          <p:cNvSpPr>
            <a:spLocks noGrp="1"/>
          </p:cNvSpPr>
          <p:nvPr>
            <p:ph type="sldNum" sz="quarter" idx="5"/>
          </p:nvPr>
        </p:nvSpPr>
        <p:spPr/>
        <p:txBody>
          <a:bodyPr/>
          <a:lstStyle/>
          <a:p>
            <a:fld id="{CEC0EE82-B8C2-4278-B928-9517A1B256B8}" type="slidenum">
              <a:rPr lang="fr-CM" smtClean="0"/>
              <a:t>7</a:t>
            </a:fld>
            <a:endParaRPr lang="fr-CM"/>
          </a:p>
        </p:txBody>
      </p:sp>
    </p:spTree>
    <p:extLst>
      <p:ext uri="{BB962C8B-B14F-4D97-AF65-F5344CB8AC3E}">
        <p14:creationId xmlns:p14="http://schemas.microsoft.com/office/powerpoint/2010/main" val="1012215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2CEF3B-A037-46D0-B02C-1428F07E9383}"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E482DC-2269-4F26-9D2A-7E44B1A4CD8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10/9/2026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10/9/2026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7" name="Date Placeholder 6"/>
          <p:cNvSpPr>
            <a:spLocks noGrp="1"/>
          </p:cNvSpPr>
          <p:nvPr>
            <p:ph type="dt" sz="half" idx="10"/>
          </p:nvPr>
        </p:nvSpPr>
        <p:spPr/>
        <p:txBody>
          <a:bodyPr/>
          <a:lstStyle/>
          <a:p>
            <a:fld id="{96DFF08F-DC6B-4601-B491-B0F83F6DD2DA}" type="datetimeFigureOut">
              <a:rPr lang="en-US" dirty="0"/>
              <a:pPr/>
              <a:t>10/9/2026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6DFF08F-DC6B-4601-B491-B0F83F6DD2DA}" type="datetimeFigureOut">
              <a:rPr lang="en-US" dirty="0"/>
              <a:pPr/>
              <a:t>10/9/2026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10/9/2026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10/9/2026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TG"/>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6DFF08F-DC6B-4601-B491-B0F83F6DD2DA}" type="datetimeFigureOut">
              <a:rPr lang="en-US" dirty="0"/>
              <a:pPr/>
              <a:t>10/9/2026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‹n°›</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necteur droit 8"/>
          <p:cNvCxnSpPr/>
          <p:nvPr/>
        </p:nvCxnSpPr>
        <p:spPr>
          <a:xfrm flipV="1">
            <a:off x="0" y="1213786"/>
            <a:ext cx="12192000" cy="54591"/>
          </a:xfrm>
          <a:prstGeom prst="line">
            <a:avLst/>
          </a:prstGeom>
        </p:spPr>
        <p:style>
          <a:lnRef idx="1">
            <a:schemeClr val="accent1"/>
          </a:lnRef>
          <a:fillRef idx="0">
            <a:schemeClr val="accent1"/>
          </a:fillRef>
          <a:effectRef idx="0">
            <a:schemeClr val="accent1"/>
          </a:effectRef>
          <a:fontRef idx="minor">
            <a:schemeClr val="tx1"/>
          </a:fontRef>
        </p:style>
      </p:cxnSp>
      <p:sp>
        <p:nvSpPr>
          <p:cNvPr id="13" name="ZoneTexte 12"/>
          <p:cNvSpPr txBox="1"/>
          <p:nvPr/>
        </p:nvSpPr>
        <p:spPr>
          <a:xfrm>
            <a:off x="1261728" y="2153188"/>
            <a:ext cx="9668541" cy="954107"/>
          </a:xfrm>
          <a:prstGeom prst="rect">
            <a:avLst/>
          </a:prstGeom>
          <a:solidFill>
            <a:schemeClr val="tx2">
              <a:lumMod val="20000"/>
              <a:lumOff val="80000"/>
            </a:schemeClr>
          </a:solidFill>
        </p:spPr>
        <p:txBody>
          <a:bodyPr wrap="square" rtlCol="0">
            <a:spAutoFit/>
          </a:bodyPr>
          <a:lstStyle/>
          <a:p>
            <a:pPr algn="ctr">
              <a:buNone/>
            </a:pPr>
            <a:r>
              <a:rPr lang="fr-FR" sz="2800" b="1" dirty="0">
                <a:latin typeface="Times New Roman" panose="02020603050405020304" pitchFamily="18" charset="0"/>
                <a:cs typeface="Times New Roman" panose="02020603050405020304" pitchFamily="18" charset="0"/>
              </a:rPr>
              <a:t>Présentation du groupe 1 : Modélisation avec</a:t>
            </a:r>
            <a:endParaRPr lang="en-US" sz="3200" b="1" dirty="0">
              <a:latin typeface="Times New Roman" panose="02020603050405020304" pitchFamily="18" charset="0"/>
              <a:cs typeface="Times New Roman" panose="02020603050405020304" pitchFamily="18" charset="0"/>
            </a:endParaRPr>
          </a:p>
          <a:p>
            <a:pPr algn="ctr">
              <a:buNone/>
            </a:pPr>
            <a:r>
              <a:rPr lang="en-US" sz="2800" b="1" kern="100" dirty="0">
                <a:effectLst/>
                <a:latin typeface="Times New Roman" panose="02020603050405020304" pitchFamily="18" charset="0"/>
                <a:ea typeface="Noto Sans" panose="020B0502040504020204" pitchFamily="34" charset="0"/>
                <a:cs typeface="Times New Roman" panose="02020603050405020304" pitchFamily="18" charset="0"/>
              </a:rPr>
              <a:t>CROCO</a:t>
            </a:r>
            <a:endParaRPr lang="fr-CM" sz="2800" b="1" kern="100" dirty="0">
              <a:effectLst/>
              <a:latin typeface="Times New Roman" panose="02020603050405020304" pitchFamily="18" charset="0"/>
              <a:ea typeface="Noto Sans" panose="020B0502040504020204" pitchFamily="34" charset="0"/>
              <a:cs typeface="Times New Roman" panose="02020603050405020304" pitchFamily="18" charset="0"/>
            </a:endParaRPr>
          </a:p>
        </p:txBody>
      </p:sp>
      <p:pic>
        <p:nvPicPr>
          <p:cNvPr id="3" name="Image 2">
            <a:extLst>
              <a:ext uri="{FF2B5EF4-FFF2-40B4-BE49-F238E27FC236}">
                <a16:creationId xmlns:a16="http://schemas.microsoft.com/office/drawing/2014/main" id="{98A1CFE2-063E-92A3-7012-7554332DA0DF}"/>
              </a:ext>
            </a:extLst>
          </p:cNvPr>
          <p:cNvPicPr>
            <a:picLocks noChangeAspect="1"/>
          </p:cNvPicPr>
          <p:nvPr/>
        </p:nvPicPr>
        <p:blipFill>
          <a:blip r:embed="rId2"/>
          <a:stretch>
            <a:fillRect/>
          </a:stretch>
        </p:blipFill>
        <p:spPr>
          <a:xfrm>
            <a:off x="10078949" y="18111"/>
            <a:ext cx="1702639" cy="1189014"/>
          </a:xfrm>
          <a:prstGeom prst="rect">
            <a:avLst/>
          </a:prstGeom>
        </p:spPr>
      </p:pic>
      <p:sp>
        <p:nvSpPr>
          <p:cNvPr id="8" name="Rectangle 7">
            <a:extLst>
              <a:ext uri="{FF2B5EF4-FFF2-40B4-BE49-F238E27FC236}">
                <a16:creationId xmlns:a16="http://schemas.microsoft.com/office/drawing/2014/main" id="{5349055B-B0D9-F667-407E-490CF6D78DD4}"/>
              </a:ext>
            </a:extLst>
          </p:cNvPr>
          <p:cNvSpPr/>
          <p:nvPr/>
        </p:nvSpPr>
        <p:spPr>
          <a:xfrm>
            <a:off x="156611" y="3782764"/>
            <a:ext cx="2144708" cy="2031325"/>
          </a:xfrm>
          <a:prstGeom prst="rect">
            <a:avLst/>
          </a:prstGeom>
        </p:spPr>
        <p:txBody>
          <a:bodyPr wrap="square">
            <a:spAutoFit/>
          </a:bodyPr>
          <a:lstStyle/>
          <a:p>
            <a:pPr algn="ctr"/>
            <a:r>
              <a:rPr lang="fr-FR" sz="2000" b="1" u="sng" dirty="0">
                <a:latin typeface="Times New Roman" panose="02020603050405020304" pitchFamily="18" charset="0"/>
                <a:ea typeface="Calibri" panose="020F0502020204030204" pitchFamily="34" charset="0"/>
                <a:cs typeface="Times New Roman" panose="02020603050405020304" pitchFamily="18" charset="0"/>
              </a:rPr>
              <a:t>Instructeurs</a:t>
            </a:r>
            <a:r>
              <a:rPr lang="fr-FR" sz="2000" b="1" dirty="0">
                <a:latin typeface="Times New Roman" panose="02020603050405020304" pitchFamily="18" charset="0"/>
                <a:ea typeface="Calibri" panose="020F0502020204030204" pitchFamily="34" charset="0"/>
                <a:cs typeface="Times New Roman" panose="02020603050405020304" pitchFamily="18" charset="0"/>
              </a:rPr>
              <a:t>:</a:t>
            </a:r>
          </a:p>
          <a:p>
            <a:pPr algn="ctr"/>
            <a:endParaRPr lang="fr-FR" sz="2400" b="1" dirty="0">
              <a:latin typeface="Times New Roman" panose="02020603050405020304" pitchFamily="18" charset="0"/>
              <a:ea typeface="Calibri" panose="020F0502020204030204" pitchFamily="34" charset="0"/>
              <a:cs typeface="Times New Roman" panose="02020603050405020304" pitchFamily="18" charset="0"/>
            </a:endParaRPr>
          </a:p>
          <a:p>
            <a:r>
              <a:rPr lang="fr-FR" sz="2000" dirty="0">
                <a:latin typeface="Times New Roman" panose="02020603050405020304" pitchFamily="18" charset="0"/>
                <a:ea typeface="Calibri" panose="020F0502020204030204" pitchFamily="34" charset="0"/>
                <a:cs typeface="Times New Roman" panose="02020603050405020304" pitchFamily="18" charset="0"/>
              </a:rPr>
              <a:t>Pr </a:t>
            </a:r>
            <a:r>
              <a:rPr lang="fr-FR" sz="2000" dirty="0" err="1">
                <a:latin typeface="Times New Roman" panose="02020603050405020304" pitchFamily="18" charset="0"/>
                <a:ea typeface="Calibri" panose="020F0502020204030204" pitchFamily="34" charset="0"/>
                <a:cs typeface="Times New Roman" panose="02020603050405020304" pitchFamily="18" charset="0"/>
              </a:rPr>
              <a:t>Eric</a:t>
            </a:r>
            <a:r>
              <a:rPr lang="fr-FR" sz="2000" dirty="0">
                <a:latin typeface="Times New Roman" panose="02020603050405020304" pitchFamily="18" charset="0"/>
                <a:ea typeface="Calibri" panose="020F0502020204030204" pitchFamily="34" charset="0"/>
                <a:cs typeface="Times New Roman" panose="02020603050405020304" pitchFamily="18" charset="0"/>
              </a:rPr>
              <a:t> </a:t>
            </a:r>
            <a:r>
              <a:rPr lang="fr-FR" sz="2000" dirty="0" err="1">
                <a:latin typeface="Times New Roman" panose="02020603050405020304" pitchFamily="18" charset="0"/>
                <a:ea typeface="Calibri" panose="020F0502020204030204" pitchFamily="34" charset="0"/>
                <a:cs typeface="Times New Roman" panose="02020603050405020304" pitchFamily="18" charset="0"/>
              </a:rPr>
              <a:t>Chassignet</a:t>
            </a:r>
            <a:endParaRPr lang="fr-FR" sz="2000" dirty="0">
              <a:latin typeface="Times New Roman" panose="02020603050405020304" pitchFamily="18" charset="0"/>
              <a:ea typeface="Calibri" panose="020F0502020204030204" pitchFamily="34" charset="0"/>
              <a:cs typeface="Times New Roman" panose="02020603050405020304" pitchFamily="18" charset="0"/>
            </a:endParaRPr>
          </a:p>
          <a:p>
            <a:r>
              <a:rPr lang="fr-FR" sz="2000" dirty="0">
                <a:latin typeface="Times New Roman" panose="02020603050405020304" pitchFamily="18" charset="0"/>
                <a:ea typeface="Calibri" panose="020F0502020204030204" pitchFamily="34" charset="0"/>
                <a:cs typeface="Times New Roman" panose="02020603050405020304" pitchFamily="18" charset="0"/>
              </a:rPr>
              <a:t>Dr Fernand </a:t>
            </a:r>
            <a:r>
              <a:rPr lang="fr-FR" sz="2000" dirty="0" err="1">
                <a:latin typeface="Times New Roman" panose="02020603050405020304" pitchFamily="18" charset="0"/>
                <a:ea typeface="Calibri" panose="020F0502020204030204" pitchFamily="34" charset="0"/>
                <a:cs typeface="Times New Roman" panose="02020603050405020304" pitchFamily="18" charset="0"/>
              </a:rPr>
              <a:t>Assene</a:t>
            </a:r>
            <a:r>
              <a:rPr lang="fr-FR" sz="2000" dirty="0">
                <a:latin typeface="Times New Roman" panose="02020603050405020304" pitchFamily="18" charset="0"/>
                <a:ea typeface="Calibri" panose="020F0502020204030204" pitchFamily="34" charset="0"/>
                <a:cs typeface="Times New Roman" panose="02020603050405020304" pitchFamily="18" charset="0"/>
              </a:rPr>
              <a:t> </a:t>
            </a:r>
          </a:p>
          <a:p>
            <a:r>
              <a:rPr lang="fr-CM" sz="2000" dirty="0">
                <a:latin typeface="Times New Roman" panose="02020603050405020304" pitchFamily="18" charset="0"/>
                <a:cs typeface="Times New Roman" panose="02020603050405020304" pitchFamily="18" charset="0"/>
              </a:rPr>
              <a:t>Dr Hugo </a:t>
            </a:r>
            <a:r>
              <a:rPr lang="fr-CM" sz="2000" dirty="0" err="1">
                <a:latin typeface="Times New Roman" panose="02020603050405020304" pitchFamily="18" charset="0"/>
                <a:cs typeface="Times New Roman" panose="02020603050405020304" pitchFamily="18" charset="0"/>
              </a:rPr>
              <a:t>Plombat</a:t>
            </a:r>
            <a:endParaRPr lang="fr-CM" sz="2000" dirty="0">
              <a:latin typeface="Times New Roman" panose="02020603050405020304" pitchFamily="18" charset="0"/>
              <a:cs typeface="Times New Roman" panose="02020603050405020304" pitchFamily="18" charset="0"/>
            </a:endParaRPr>
          </a:p>
          <a:p>
            <a:endParaRPr lang="en-US" dirty="0">
              <a:latin typeface="+mj-lt"/>
            </a:endParaRPr>
          </a:p>
        </p:txBody>
      </p:sp>
      <p:sp>
        <p:nvSpPr>
          <p:cNvPr id="11" name="Rectangle 10">
            <a:extLst>
              <a:ext uri="{FF2B5EF4-FFF2-40B4-BE49-F238E27FC236}">
                <a16:creationId xmlns:a16="http://schemas.microsoft.com/office/drawing/2014/main" id="{CC2E3055-AF9F-3A97-B481-3DDC457C5EDF}"/>
              </a:ext>
            </a:extLst>
          </p:cNvPr>
          <p:cNvSpPr/>
          <p:nvPr/>
        </p:nvSpPr>
        <p:spPr>
          <a:xfrm>
            <a:off x="3201255" y="5511139"/>
            <a:ext cx="3727495" cy="417871"/>
          </a:xfrm>
          <a:prstGeom prst="rect">
            <a:avLst/>
          </a:prstGeom>
        </p:spPr>
        <p:txBody>
          <a:bodyPr wrap="none">
            <a:spAutoFit/>
          </a:bodyPr>
          <a:lstStyle/>
          <a:p>
            <a:pPr algn="ctr">
              <a:lnSpc>
                <a:spcPct val="115000"/>
              </a:lnSpc>
              <a:spcAft>
                <a:spcPts val="1000"/>
              </a:spcAft>
            </a:pPr>
            <a:r>
              <a:rPr lang="fr-CM" sz="2000" b="1" dirty="0">
                <a:latin typeface="Times New Roman" panose="02020603050405020304" pitchFamily="18" charset="0"/>
                <a:ea typeface="Calibri" panose="020F0502020204030204" pitchFamily="34" charset="0"/>
                <a:cs typeface="Times New Roman" panose="02020603050405020304" pitchFamily="18" charset="0"/>
              </a:rPr>
              <a:t>Cotonou, du 03-09 octobre 2026</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2" name="Rectangle 11">
            <a:extLst>
              <a:ext uri="{FF2B5EF4-FFF2-40B4-BE49-F238E27FC236}">
                <a16:creationId xmlns:a16="http://schemas.microsoft.com/office/drawing/2014/main" id="{29E4DC58-5BE0-0202-D647-A760A86AFA7D}"/>
              </a:ext>
            </a:extLst>
          </p:cNvPr>
          <p:cNvSpPr/>
          <p:nvPr/>
        </p:nvSpPr>
        <p:spPr>
          <a:xfrm>
            <a:off x="7807088" y="4077952"/>
            <a:ext cx="2062480" cy="1704569"/>
          </a:xfrm>
          <a:prstGeom prst="rect">
            <a:avLst/>
          </a:prstGeom>
        </p:spPr>
        <p:txBody>
          <a:bodyPr wrap="square">
            <a:spAutoFit/>
          </a:bodyPr>
          <a:lstStyle/>
          <a:p>
            <a:pPr>
              <a:lnSpc>
                <a:spcPct val="150000"/>
              </a:lnSpc>
              <a:spcAft>
                <a:spcPts val="0"/>
              </a:spcAft>
            </a:pPr>
            <a:r>
              <a:rPr lang="fr-CM" dirty="0">
                <a:latin typeface="Times New Roman" panose="02020603050405020304" pitchFamily="18" charset="0"/>
                <a:cs typeface="Times New Roman" panose="02020603050405020304" pitchFamily="18" charset="0"/>
              </a:rPr>
              <a:t>Séréna NGO SECK</a:t>
            </a:r>
          </a:p>
          <a:p>
            <a:pPr>
              <a:lnSpc>
                <a:spcPct val="150000"/>
              </a:lnSpc>
            </a:pPr>
            <a:r>
              <a:rPr lang="fr-CM" dirty="0">
                <a:latin typeface="Times New Roman" panose="02020603050405020304" pitchFamily="18" charset="0"/>
                <a:cs typeface="Times New Roman" panose="02020603050405020304" pitchFamily="18" charset="0"/>
              </a:rPr>
              <a:t>Atinesso NINI</a:t>
            </a:r>
          </a:p>
          <a:p>
            <a:pPr>
              <a:lnSpc>
                <a:spcPct val="150000"/>
              </a:lnSpc>
              <a:spcAft>
                <a:spcPts val="0"/>
              </a:spcAft>
            </a:pPr>
            <a:r>
              <a:rPr lang="fr-CM" dirty="0" err="1">
                <a:latin typeface="Times New Roman" panose="02020603050405020304" pitchFamily="18" charset="0"/>
                <a:cs typeface="Times New Roman" panose="02020603050405020304" pitchFamily="18" charset="0"/>
              </a:rPr>
              <a:t>Frejus</a:t>
            </a:r>
            <a:r>
              <a:rPr lang="fr-CM" dirty="0">
                <a:latin typeface="Times New Roman" panose="02020603050405020304" pitchFamily="18" charset="0"/>
                <a:cs typeface="Times New Roman" panose="02020603050405020304" pitchFamily="18" charset="0"/>
              </a:rPr>
              <a:t> AGBESSI</a:t>
            </a:r>
          </a:p>
          <a:p>
            <a:pPr>
              <a:lnSpc>
                <a:spcPct val="150000"/>
              </a:lnSpc>
              <a:spcAft>
                <a:spcPts val="0"/>
              </a:spcAft>
            </a:pPr>
            <a:r>
              <a:rPr lang="fr-CM" dirty="0">
                <a:latin typeface="Times New Roman" panose="02020603050405020304" pitchFamily="18" charset="0"/>
                <a:cs typeface="Times New Roman" panose="02020603050405020304" pitchFamily="18" charset="0"/>
              </a:rPr>
              <a:t>Enock DJORWE</a:t>
            </a:r>
          </a:p>
        </p:txBody>
      </p:sp>
      <p:sp>
        <p:nvSpPr>
          <p:cNvPr id="14" name="Rectangle: Rounded Corners 13">
            <a:extLst>
              <a:ext uri="{FF2B5EF4-FFF2-40B4-BE49-F238E27FC236}">
                <a16:creationId xmlns:a16="http://schemas.microsoft.com/office/drawing/2014/main" id="{5BA9BC2D-C6BF-E779-256D-BEED9BBD10ED}"/>
              </a:ext>
            </a:extLst>
          </p:cNvPr>
          <p:cNvSpPr/>
          <p:nvPr/>
        </p:nvSpPr>
        <p:spPr>
          <a:xfrm>
            <a:off x="11705168" y="6464994"/>
            <a:ext cx="391885" cy="2514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1</a:t>
            </a:r>
            <a:endParaRPr lang="fr-CM" dirty="0"/>
          </a:p>
        </p:txBody>
      </p:sp>
      <p:sp>
        <p:nvSpPr>
          <p:cNvPr id="17" name="TextBox 16">
            <a:extLst>
              <a:ext uri="{FF2B5EF4-FFF2-40B4-BE49-F238E27FC236}">
                <a16:creationId xmlns:a16="http://schemas.microsoft.com/office/drawing/2014/main" id="{D1C4E85D-29A9-8AAA-C334-3AFE26029784}"/>
              </a:ext>
            </a:extLst>
          </p:cNvPr>
          <p:cNvSpPr txBox="1"/>
          <p:nvPr/>
        </p:nvSpPr>
        <p:spPr>
          <a:xfrm>
            <a:off x="2668771" y="1524074"/>
            <a:ext cx="6262577" cy="400110"/>
          </a:xfrm>
          <a:prstGeom prst="rect">
            <a:avLst/>
          </a:prstGeom>
          <a:noFill/>
        </p:spPr>
        <p:txBody>
          <a:bodyPr wrap="square">
            <a:spAutoFit/>
          </a:bodyPr>
          <a:lstStyle/>
          <a:p>
            <a:pPr algn="ctr"/>
            <a:r>
              <a:rPr lang="fr-FR" sz="2000" b="1" u="sng" dirty="0">
                <a:latin typeface="Times New Roman" panose="02020603050405020304" pitchFamily="18" charset="0"/>
                <a:cs typeface="Times New Roman" panose="02020603050405020304" pitchFamily="18" charset="0"/>
              </a:rPr>
              <a:t>École d’été GGOSSS-2026 (CIPMA, Bénin)</a:t>
            </a:r>
            <a:endParaRPr lang="fr-CM" sz="2000" b="1" u="sng" dirty="0">
              <a:latin typeface="Times New Roman" panose="02020603050405020304" pitchFamily="18" charset="0"/>
              <a:cs typeface="Times New Roman" panose="02020603050405020304" pitchFamily="18" charset="0"/>
            </a:endParaRPr>
          </a:p>
        </p:txBody>
      </p:sp>
      <p:pic>
        <p:nvPicPr>
          <p:cNvPr id="15" name="Image 14">
            <a:extLst>
              <a:ext uri="{FF2B5EF4-FFF2-40B4-BE49-F238E27FC236}">
                <a16:creationId xmlns:a16="http://schemas.microsoft.com/office/drawing/2014/main" id="{E0B26DCC-DE70-8FEA-354A-69C767569315}"/>
              </a:ext>
            </a:extLst>
          </p:cNvPr>
          <p:cNvPicPr>
            <a:picLocks noChangeAspect="1"/>
          </p:cNvPicPr>
          <p:nvPr/>
        </p:nvPicPr>
        <p:blipFill>
          <a:blip r:embed="rId3"/>
          <a:stretch>
            <a:fillRect/>
          </a:stretch>
        </p:blipFill>
        <p:spPr>
          <a:xfrm>
            <a:off x="0" y="70508"/>
            <a:ext cx="3534268" cy="1086002"/>
          </a:xfrm>
          <a:prstGeom prst="rect">
            <a:avLst/>
          </a:prstGeom>
        </p:spPr>
      </p:pic>
      <p:sp>
        <p:nvSpPr>
          <p:cNvPr id="18" name="ZoneTexte 17">
            <a:extLst>
              <a:ext uri="{FF2B5EF4-FFF2-40B4-BE49-F238E27FC236}">
                <a16:creationId xmlns:a16="http://schemas.microsoft.com/office/drawing/2014/main" id="{B4FBF649-31C3-90A0-2367-03A6494CBD87}"/>
              </a:ext>
            </a:extLst>
          </p:cNvPr>
          <p:cNvSpPr txBox="1"/>
          <p:nvPr/>
        </p:nvSpPr>
        <p:spPr>
          <a:xfrm>
            <a:off x="10086680" y="3969665"/>
            <a:ext cx="2388124" cy="2585323"/>
          </a:xfrm>
          <a:prstGeom prst="rect">
            <a:avLst/>
          </a:prstGeom>
          <a:noFill/>
        </p:spPr>
        <p:txBody>
          <a:bodyPr wrap="square">
            <a:spAutoFit/>
          </a:bodyPr>
          <a:lstStyle/>
          <a:p>
            <a:pPr>
              <a:lnSpc>
                <a:spcPct val="150000"/>
              </a:lnSpc>
            </a:pPr>
            <a:r>
              <a:rPr lang="fr-CM" dirty="0">
                <a:latin typeface="Times New Roman" panose="02020603050405020304" pitchFamily="18" charset="0"/>
                <a:cs typeface="Times New Roman" panose="02020603050405020304" pitchFamily="18" charset="0"/>
              </a:rPr>
              <a:t>Aaron EBATA</a:t>
            </a:r>
            <a:endParaRPr lang="fr-CM" sz="1800" dirty="0">
              <a:latin typeface="Times New Roman" panose="02020603050405020304" pitchFamily="18" charset="0"/>
              <a:cs typeface="Times New Roman" panose="02020603050405020304" pitchFamily="18" charset="0"/>
            </a:endParaRPr>
          </a:p>
          <a:p>
            <a:pPr>
              <a:lnSpc>
                <a:spcPct val="150000"/>
              </a:lnSpc>
              <a:spcAft>
                <a:spcPts val="0"/>
              </a:spcAft>
            </a:pPr>
            <a:r>
              <a:rPr lang="fr-CM" sz="1800" dirty="0">
                <a:latin typeface="Times New Roman" panose="02020603050405020304" pitchFamily="18" charset="0"/>
                <a:cs typeface="Times New Roman" panose="02020603050405020304" pitchFamily="18" charset="0"/>
              </a:rPr>
              <a:t>Moh-sine MAMAH</a:t>
            </a:r>
          </a:p>
          <a:p>
            <a:pPr>
              <a:lnSpc>
                <a:spcPct val="150000"/>
              </a:lnSpc>
              <a:spcAft>
                <a:spcPts val="0"/>
              </a:spcAft>
            </a:pPr>
            <a:r>
              <a:rPr lang="fr-CM" sz="1800" dirty="0">
                <a:latin typeface="Times New Roman" panose="02020603050405020304" pitchFamily="18" charset="0"/>
                <a:cs typeface="Times New Roman" panose="02020603050405020304" pitchFamily="18" charset="0"/>
              </a:rPr>
              <a:t>Armand TCHINDA</a:t>
            </a:r>
          </a:p>
          <a:p>
            <a:pPr>
              <a:lnSpc>
                <a:spcPct val="150000"/>
              </a:lnSpc>
              <a:spcAft>
                <a:spcPts val="0"/>
              </a:spcAft>
            </a:pPr>
            <a:r>
              <a:rPr lang="fr-CM" dirty="0">
                <a:latin typeface="Times New Roman" panose="02020603050405020304" pitchFamily="18" charset="0"/>
                <a:cs typeface="Times New Roman" panose="02020603050405020304" pitchFamily="18" charset="0"/>
              </a:rPr>
              <a:t>Lydie MEKONOU</a:t>
            </a:r>
          </a:p>
          <a:p>
            <a:pPr>
              <a:lnSpc>
                <a:spcPct val="150000"/>
              </a:lnSpc>
            </a:pPr>
            <a:r>
              <a:rPr lang="fr-CM" dirty="0">
                <a:latin typeface="Times New Roman" panose="02020603050405020304" pitchFamily="18" charset="0"/>
                <a:cs typeface="Times New Roman" panose="02020603050405020304" pitchFamily="18" charset="0"/>
              </a:rPr>
              <a:t>Lucien DJOSSOU</a:t>
            </a:r>
          </a:p>
          <a:p>
            <a:pPr>
              <a:lnSpc>
                <a:spcPct val="150000"/>
              </a:lnSpc>
              <a:spcAft>
                <a:spcPts val="0"/>
              </a:spcAft>
            </a:pPr>
            <a:endParaRPr lang="fr-CM" sz="1800" dirty="0">
              <a:latin typeface="Times New Roman" panose="02020603050405020304" pitchFamily="18" charset="0"/>
              <a:cs typeface="Times New Roman" panose="02020603050405020304" pitchFamily="18" charset="0"/>
            </a:endParaRPr>
          </a:p>
        </p:txBody>
      </p:sp>
      <p:sp>
        <p:nvSpPr>
          <p:cNvPr id="20" name="ZoneTexte 19">
            <a:extLst>
              <a:ext uri="{FF2B5EF4-FFF2-40B4-BE49-F238E27FC236}">
                <a16:creationId xmlns:a16="http://schemas.microsoft.com/office/drawing/2014/main" id="{A473B8F8-05C7-0832-5769-1475AD4B46AA}"/>
              </a:ext>
            </a:extLst>
          </p:cNvPr>
          <p:cNvSpPr txBox="1"/>
          <p:nvPr/>
        </p:nvSpPr>
        <p:spPr>
          <a:xfrm>
            <a:off x="8616714" y="3327877"/>
            <a:ext cx="2589031" cy="498663"/>
          </a:xfrm>
          <a:prstGeom prst="rect">
            <a:avLst/>
          </a:prstGeom>
          <a:noFill/>
        </p:spPr>
        <p:txBody>
          <a:bodyPr wrap="square">
            <a:spAutoFit/>
          </a:bodyPr>
          <a:lstStyle/>
          <a:p>
            <a:pPr>
              <a:lnSpc>
                <a:spcPct val="150000"/>
              </a:lnSpc>
              <a:spcAft>
                <a:spcPts val="0"/>
              </a:spcAft>
            </a:pPr>
            <a:r>
              <a:rPr lang="fr-FR" sz="20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Membres du groupe</a:t>
            </a:r>
            <a:r>
              <a:rPr lang="fr-FR"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fr-CM" sz="2000"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4" name="Image 23">
            <a:extLst>
              <a:ext uri="{FF2B5EF4-FFF2-40B4-BE49-F238E27FC236}">
                <a16:creationId xmlns:a16="http://schemas.microsoft.com/office/drawing/2014/main" id="{E81FA5C6-9DE6-D36C-F049-8E496CA0A449}"/>
              </a:ext>
            </a:extLst>
          </p:cNvPr>
          <p:cNvPicPr>
            <a:picLocks noChangeAspect="1"/>
          </p:cNvPicPr>
          <p:nvPr/>
        </p:nvPicPr>
        <p:blipFill>
          <a:blip r:embed="rId4"/>
          <a:srcRect t="82279" b="11059"/>
          <a:stretch>
            <a:fillRect/>
          </a:stretch>
        </p:blipFill>
        <p:spPr>
          <a:xfrm>
            <a:off x="0" y="6180884"/>
            <a:ext cx="12256374" cy="671240"/>
          </a:xfrm>
          <a:prstGeom prst="rect">
            <a:avLst/>
          </a:prstGeom>
        </p:spPr>
      </p:pic>
    </p:spTree>
    <p:extLst>
      <p:ext uri="{BB962C8B-B14F-4D97-AF65-F5344CB8AC3E}">
        <p14:creationId xmlns:p14="http://schemas.microsoft.com/office/powerpoint/2010/main" val="1476891368"/>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3">
            <a:extLst>
              <a:ext uri="{FF2B5EF4-FFF2-40B4-BE49-F238E27FC236}">
                <a16:creationId xmlns:a16="http://schemas.microsoft.com/office/drawing/2014/main" id="{4887C223-025B-44FC-8A9A-C6649FCD2F9F}"/>
              </a:ext>
            </a:extLst>
          </p:cNvPr>
          <p:cNvSpPr txBox="1"/>
          <p:nvPr/>
        </p:nvSpPr>
        <p:spPr>
          <a:xfrm>
            <a:off x="975360" y="0"/>
            <a:ext cx="10546080" cy="523220"/>
          </a:xfrm>
          <a:prstGeom prst="rect">
            <a:avLst/>
          </a:prstGeom>
          <a:solidFill>
            <a:schemeClr val="tx2"/>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fr-FR" sz="2800" b="1" dirty="0">
                <a:latin typeface="Times New Roman" panose="02020603050405020304" pitchFamily="18" charset="0"/>
                <a:cs typeface="Times New Roman" panose="02020603050405020304" pitchFamily="18" charset="0"/>
              </a:rPr>
              <a:t>Outils utilisés pour faire un hindcast sur CROCO</a:t>
            </a:r>
          </a:p>
        </p:txBody>
      </p:sp>
      <p:sp>
        <p:nvSpPr>
          <p:cNvPr id="6" name="Rectangle: Rounded Corners 5">
            <a:extLst>
              <a:ext uri="{FF2B5EF4-FFF2-40B4-BE49-F238E27FC236}">
                <a16:creationId xmlns:a16="http://schemas.microsoft.com/office/drawing/2014/main" id="{01090A97-C6F6-4B53-9CD4-621A3FC1302E}"/>
              </a:ext>
            </a:extLst>
          </p:cNvPr>
          <p:cNvSpPr/>
          <p:nvPr/>
        </p:nvSpPr>
        <p:spPr>
          <a:xfrm>
            <a:off x="11704320" y="6454834"/>
            <a:ext cx="358927" cy="3218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latin typeface="Times New Roman" panose="02020603050405020304" pitchFamily="18" charset="0"/>
                <a:cs typeface="Times New Roman" panose="02020603050405020304" pitchFamily="18" charset="0"/>
              </a:rPr>
              <a:t>1</a:t>
            </a:r>
            <a:endParaRPr lang="fr-CM" sz="2400" dirty="0">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3A4FFBCB-C623-8AA5-AE42-9E088F5DDC42}"/>
              </a:ext>
            </a:extLst>
          </p:cNvPr>
          <p:cNvSpPr/>
          <p:nvPr/>
        </p:nvSpPr>
        <p:spPr>
          <a:xfrm>
            <a:off x="553698" y="1630837"/>
            <a:ext cx="4841387" cy="20550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lvl="0" algn="ctr"/>
            <a:r>
              <a:rPr lang="fr-FR" sz="2400" b="1" u="sng" dirty="0">
                <a:latin typeface="Times New Roman" panose="02020603050405020304" pitchFamily="18" charset="0"/>
                <a:cs typeface="Times New Roman" panose="02020603050405020304" pitchFamily="18" charset="0"/>
              </a:rPr>
              <a:t>Une infrastructure de calcul</a:t>
            </a:r>
          </a:p>
          <a:p>
            <a:pPr lvl="0" algn="ctr"/>
            <a:endParaRPr lang="fr-TG" sz="2400" u="sng" dirty="0">
              <a:latin typeface="Times New Roman" panose="02020603050405020304" pitchFamily="18" charset="0"/>
              <a:cs typeface="Times New Roman" panose="02020603050405020304" pitchFamily="18" charset="0"/>
            </a:endParaRPr>
          </a:p>
          <a:p>
            <a:pPr lvl="0"/>
            <a:r>
              <a:rPr lang="fr-FR" sz="2400" dirty="0">
                <a:latin typeface="Times New Roman" panose="02020603050405020304" pitchFamily="18" charset="0"/>
                <a:cs typeface="Times New Roman" panose="02020603050405020304" pitchFamily="18" charset="0"/>
              </a:rPr>
              <a:t>Ordinateur :  (RAM et espace de stockage adaptés)</a:t>
            </a:r>
          </a:p>
          <a:p>
            <a:pPr lvl="0"/>
            <a:r>
              <a:rPr lang="fr-FR" sz="2400" dirty="0">
                <a:latin typeface="Times New Roman" panose="02020603050405020304" pitchFamily="18" charset="0"/>
                <a:cs typeface="Times New Roman" panose="02020603050405020304" pitchFamily="18" charset="0"/>
              </a:rPr>
              <a:t>Mini : 16 Go ; 100 Go </a:t>
            </a:r>
          </a:p>
        </p:txBody>
      </p:sp>
      <p:sp>
        <p:nvSpPr>
          <p:cNvPr id="20" name="Rectangle 19">
            <a:extLst>
              <a:ext uri="{FF2B5EF4-FFF2-40B4-BE49-F238E27FC236}">
                <a16:creationId xmlns:a16="http://schemas.microsoft.com/office/drawing/2014/main" id="{D34E094E-FCDE-8F14-FF85-889C3DF1918B}"/>
              </a:ext>
            </a:extLst>
          </p:cNvPr>
          <p:cNvSpPr/>
          <p:nvPr/>
        </p:nvSpPr>
        <p:spPr>
          <a:xfrm>
            <a:off x="6217920" y="4656840"/>
            <a:ext cx="5634990" cy="158972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lvl="0" algn="ctr"/>
            <a:r>
              <a:rPr lang="fr-FR" sz="2400" b="1" u="sng" dirty="0" err="1">
                <a:solidFill>
                  <a:schemeClr val="tx1"/>
                </a:solidFill>
                <a:latin typeface="Times New Roman" panose="02020603050405020304" pitchFamily="18" charset="0"/>
                <a:cs typeface="Times New Roman" panose="02020603050405020304" pitchFamily="18" charset="0"/>
              </a:rPr>
              <a:t>Jupyter</a:t>
            </a:r>
            <a:r>
              <a:rPr lang="fr-FR" sz="2400" b="1" u="sng" dirty="0">
                <a:solidFill>
                  <a:schemeClr val="tx1"/>
                </a:solidFill>
                <a:latin typeface="Times New Roman" panose="02020603050405020304" pitchFamily="18" charset="0"/>
                <a:cs typeface="Times New Roman" panose="02020603050405020304" pitchFamily="18" charset="0"/>
              </a:rPr>
              <a:t> / Python</a:t>
            </a:r>
          </a:p>
          <a:p>
            <a:pPr lvl="0" algn="ctr"/>
            <a:r>
              <a:rPr lang="fr-FR" sz="2400" b="1" u="sng" dirty="0">
                <a:solidFill>
                  <a:schemeClr val="tx1"/>
                </a:solidFill>
                <a:latin typeface="Times New Roman" panose="02020603050405020304" pitchFamily="18" charset="0"/>
                <a:cs typeface="Times New Roman" panose="02020603050405020304" pitchFamily="18" charset="0"/>
              </a:rPr>
              <a:t> </a:t>
            </a:r>
          </a:p>
          <a:p>
            <a:pPr lvl="0"/>
            <a:r>
              <a:rPr lang="fr-FR" sz="2400" dirty="0">
                <a:solidFill>
                  <a:schemeClr val="tx1"/>
                </a:solidFill>
                <a:latin typeface="Times New Roman" panose="02020603050405020304" pitchFamily="18" charset="0"/>
                <a:cs typeface="Times New Roman" panose="02020603050405020304" pitchFamily="18" charset="0"/>
              </a:rPr>
              <a:t> Analyse et visualisation des sorties CROCO</a:t>
            </a:r>
            <a:endParaRPr lang="fr-TG" sz="2400" dirty="0">
              <a:solidFill>
                <a:schemeClr val="tx1"/>
              </a:solidFill>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D7D751DE-9731-8A44-6D1A-BEA6F55DF4DB}"/>
              </a:ext>
            </a:extLst>
          </p:cNvPr>
          <p:cNvSpPr/>
          <p:nvPr/>
        </p:nvSpPr>
        <p:spPr>
          <a:xfrm>
            <a:off x="601232" y="4034672"/>
            <a:ext cx="4774999" cy="221189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fr-FR" sz="2400" b="1" u="sng" dirty="0">
                <a:solidFill>
                  <a:schemeClr val="tx1"/>
                </a:solidFill>
                <a:latin typeface="Times New Roman" panose="02020603050405020304" pitchFamily="18" charset="0"/>
                <a:cs typeface="Times New Roman" panose="02020603050405020304" pitchFamily="18" charset="0"/>
              </a:rPr>
              <a:t>Les données de la zone d’étude</a:t>
            </a:r>
          </a:p>
          <a:p>
            <a:pPr lvl="0" algn="ctr"/>
            <a:endParaRPr lang="fr-TG" sz="2400" b="1" u="sng" dirty="0">
              <a:solidFill>
                <a:schemeClr val="tx1"/>
              </a:solidFill>
              <a:latin typeface="Times New Roman" panose="02020603050405020304" pitchFamily="18" charset="0"/>
              <a:cs typeface="Times New Roman" panose="02020603050405020304" pitchFamily="18" charset="0"/>
            </a:endParaRPr>
          </a:p>
          <a:p>
            <a:pPr lvl="0"/>
            <a:r>
              <a:rPr lang="fr-FR" sz="2400" dirty="0">
                <a:solidFill>
                  <a:schemeClr val="tx1"/>
                </a:solidFill>
                <a:latin typeface="Times New Roman" panose="02020603050405020304" pitchFamily="18" charset="0"/>
                <a:cs typeface="Times New Roman" panose="02020603050405020304" pitchFamily="18" charset="0"/>
              </a:rPr>
              <a:t>Bathymétrie : ETOPO ,Trait de côte (GSHHS)</a:t>
            </a:r>
          </a:p>
          <a:p>
            <a:pPr lvl="0"/>
            <a:r>
              <a:rPr lang="fr-FR" sz="2400" dirty="0">
                <a:solidFill>
                  <a:schemeClr val="tx1"/>
                </a:solidFill>
                <a:latin typeface="Times New Roman" panose="02020603050405020304" pitchFamily="18" charset="0"/>
                <a:cs typeface="Times New Roman" panose="02020603050405020304" pitchFamily="18" charset="0"/>
              </a:rPr>
              <a:t>Grilles : 1/12°(~9 km)et 1/36°(~3km)</a:t>
            </a:r>
          </a:p>
        </p:txBody>
      </p:sp>
      <p:sp>
        <p:nvSpPr>
          <p:cNvPr id="22" name="Rectangle 21">
            <a:extLst>
              <a:ext uri="{FF2B5EF4-FFF2-40B4-BE49-F238E27FC236}">
                <a16:creationId xmlns:a16="http://schemas.microsoft.com/office/drawing/2014/main" id="{4E805923-58D6-12DD-D0A9-7C55927C1ACF}"/>
              </a:ext>
            </a:extLst>
          </p:cNvPr>
          <p:cNvSpPr/>
          <p:nvPr/>
        </p:nvSpPr>
        <p:spPr>
          <a:xfrm>
            <a:off x="6211085" y="1593129"/>
            <a:ext cx="5634990" cy="256409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r>
              <a:rPr lang="fr-FR" sz="2400" b="1" u="sng" dirty="0">
                <a:solidFill>
                  <a:schemeClr val="tx1"/>
                </a:solidFill>
                <a:latin typeface="Times New Roman" panose="02020603050405020304" pitchFamily="18" charset="0"/>
                <a:cs typeface="Times New Roman" panose="02020603050405020304" pitchFamily="18" charset="0"/>
              </a:rPr>
              <a:t>Les forçages et conditions aux frontières</a:t>
            </a:r>
            <a:endParaRPr lang="fr-TG" sz="2400" u="sng" dirty="0">
              <a:solidFill>
                <a:schemeClr val="tx1"/>
              </a:solidFill>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fr-FR" sz="2400" dirty="0">
                <a:solidFill>
                  <a:schemeClr val="tx1"/>
                </a:solidFill>
                <a:latin typeface="Times New Roman" panose="02020603050405020304" pitchFamily="18" charset="0"/>
                <a:cs typeface="Times New Roman" panose="02020603050405020304" pitchFamily="18" charset="0"/>
              </a:rPr>
              <a:t>Forçage atmosphérique : ERA5</a:t>
            </a:r>
          </a:p>
          <a:p>
            <a:pPr marL="342900" lvl="0" indent="-342900">
              <a:buFont typeface="Arial" panose="020B0604020202020204" pitchFamily="34" charset="0"/>
              <a:buChar char="•"/>
            </a:pPr>
            <a:r>
              <a:rPr lang="fr-FR" sz="2400" dirty="0">
                <a:solidFill>
                  <a:schemeClr val="tx1"/>
                </a:solidFill>
                <a:latin typeface="Times New Roman" panose="02020603050405020304" pitchFamily="18" charset="0"/>
                <a:cs typeface="Times New Roman" panose="02020603050405020304" pitchFamily="18" charset="0"/>
              </a:rPr>
              <a:t>Forçages océaniques: Copernicus Marine (Température, salinité, courants, niveau marin…)</a:t>
            </a:r>
          </a:p>
          <a:p>
            <a:pPr marL="342900" lvl="0" indent="-342900">
              <a:buFont typeface="Arial" panose="020B0604020202020204" pitchFamily="34" charset="0"/>
              <a:buChar char="•"/>
            </a:pPr>
            <a:r>
              <a:rPr lang="fr-FR" sz="2400" dirty="0">
                <a:solidFill>
                  <a:schemeClr val="tx1"/>
                </a:solidFill>
                <a:latin typeface="Times New Roman" panose="02020603050405020304" pitchFamily="18" charset="0"/>
                <a:cs typeface="Times New Roman" panose="02020603050405020304" pitchFamily="18" charset="0"/>
              </a:rPr>
              <a:t>Forçages hydrologiques : </a:t>
            </a:r>
            <a:r>
              <a:rPr lang="fr-FR" sz="2400" dirty="0" err="1">
                <a:solidFill>
                  <a:schemeClr val="tx1"/>
                </a:solidFill>
                <a:latin typeface="Times New Roman" panose="02020603050405020304" pitchFamily="18" charset="0"/>
                <a:cs typeface="Times New Roman" panose="02020603050405020304" pitchFamily="18" charset="0"/>
              </a:rPr>
              <a:t>GloFAS</a:t>
            </a:r>
            <a:endParaRPr lang="fr-FR" sz="2400" dirty="0">
              <a:solidFill>
                <a:schemeClr val="tx1"/>
              </a:solidFill>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fr-FR" sz="2400" dirty="0">
                <a:solidFill>
                  <a:schemeClr val="tx1"/>
                </a:solidFill>
                <a:latin typeface="Times New Roman" panose="02020603050405020304" pitchFamily="18" charset="0"/>
                <a:cs typeface="Times New Roman" panose="02020603050405020304" pitchFamily="18" charset="0"/>
              </a:rPr>
              <a:t>Marée : TPXO7</a:t>
            </a:r>
            <a:endParaRPr lang="fr-TG" sz="2400" dirty="0">
              <a:solidFill>
                <a:schemeClr val="tx1"/>
              </a:solidFill>
              <a:latin typeface="Times New Roman" panose="02020603050405020304" pitchFamily="18" charset="0"/>
              <a:cs typeface="Times New Roman" panose="02020603050405020304" pitchFamily="18" charset="0"/>
            </a:endParaRPr>
          </a:p>
        </p:txBody>
      </p:sp>
      <p:sp>
        <p:nvSpPr>
          <p:cNvPr id="3" name="Rectangle 2"/>
          <p:cNvSpPr/>
          <p:nvPr/>
        </p:nvSpPr>
        <p:spPr>
          <a:xfrm>
            <a:off x="1168303" y="868779"/>
            <a:ext cx="9003747" cy="369332"/>
          </a:xfrm>
          <a:prstGeom prst="rect">
            <a:avLst/>
          </a:prstGeom>
        </p:spPr>
        <p:txBody>
          <a:bodyPr wrap="none">
            <a:spAutoFit/>
          </a:bodyPr>
          <a:lstStyle/>
          <a:p>
            <a:r>
              <a:rPr lang="fr-FR" b="1" dirty="0">
                <a:latin typeface="Times New Roman" panose="02020603050405020304" pitchFamily="18" charset="0"/>
                <a:cs typeface="Times New Roman" panose="02020603050405020304" pitchFamily="18" charset="0"/>
              </a:rPr>
              <a:t>un hindcast ou </a:t>
            </a:r>
            <a:r>
              <a:rPr lang="fr-FR" b="1" dirty="0" err="1">
                <a:latin typeface="Times New Roman" panose="02020603050405020304" pitchFamily="18" charset="0"/>
                <a:cs typeface="Times New Roman" panose="02020603050405020304" pitchFamily="18" charset="0"/>
              </a:rPr>
              <a:t>retroanalyse</a:t>
            </a:r>
            <a:r>
              <a:rPr lang="fr-FR" b="1" dirty="0">
                <a:latin typeface="Times New Roman" panose="02020603050405020304" pitchFamily="18" charset="0"/>
                <a:cs typeface="Times New Roman" panose="02020603050405020304" pitchFamily="18" charset="0"/>
              </a:rPr>
              <a:t>, est une méthode utilisée pour simuler des </a:t>
            </a:r>
            <a:r>
              <a:rPr lang="fr-FR" b="1" dirty="0" err="1">
                <a:latin typeface="Times New Roman" panose="02020603050405020304" pitchFamily="18" charset="0"/>
                <a:cs typeface="Times New Roman" panose="02020603050405020304" pitchFamily="18" charset="0"/>
              </a:rPr>
              <a:t>évenements</a:t>
            </a:r>
            <a:r>
              <a:rPr lang="fr-FR" b="1" dirty="0">
                <a:latin typeface="Times New Roman" panose="02020603050405020304" pitchFamily="18" charset="0"/>
                <a:cs typeface="Times New Roman" panose="02020603050405020304" pitchFamily="18" charset="0"/>
              </a:rPr>
              <a:t> passés </a:t>
            </a:r>
            <a:endParaRPr lang="en-US" b="1" dirty="0"/>
          </a:p>
        </p:txBody>
      </p:sp>
    </p:spTree>
    <p:extLst>
      <p:ext uri="{BB962C8B-B14F-4D97-AF65-F5344CB8AC3E}">
        <p14:creationId xmlns:p14="http://schemas.microsoft.com/office/powerpoint/2010/main" val="490162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3CCBA-A3F2-F58B-97C7-68DE2948ECB8}"/>
            </a:ext>
          </a:extLst>
        </p:cNvPr>
        <p:cNvGrpSpPr/>
        <p:nvPr/>
      </p:nvGrpSpPr>
      <p:grpSpPr>
        <a:xfrm>
          <a:off x="0" y="0"/>
          <a:ext cx="0" cy="0"/>
          <a:chOff x="0" y="0"/>
          <a:chExt cx="0" cy="0"/>
        </a:xfrm>
      </p:grpSpPr>
      <p:sp>
        <p:nvSpPr>
          <p:cNvPr id="2" name="ZoneTexte 3">
            <a:extLst>
              <a:ext uri="{FF2B5EF4-FFF2-40B4-BE49-F238E27FC236}">
                <a16:creationId xmlns:a16="http://schemas.microsoft.com/office/drawing/2014/main" id="{F68FB4EB-85B2-ADA5-2F98-3C1429868667}"/>
              </a:ext>
            </a:extLst>
          </p:cNvPr>
          <p:cNvSpPr txBox="1"/>
          <p:nvPr/>
        </p:nvSpPr>
        <p:spPr>
          <a:xfrm>
            <a:off x="822960" y="0"/>
            <a:ext cx="10546080" cy="461665"/>
          </a:xfrm>
          <a:prstGeom prst="rect">
            <a:avLst/>
          </a:prstGeom>
          <a:solidFill>
            <a:schemeClr val="tx2"/>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fr-FR" sz="2400" b="1" dirty="0">
                <a:latin typeface="Times New Roman" panose="02020603050405020304" pitchFamily="18" charset="0"/>
                <a:cs typeface="Times New Roman" panose="02020603050405020304" pitchFamily="18" charset="0"/>
              </a:rPr>
              <a:t>Résultats (1/3) : simulation de l’influence de la salinité de surface</a:t>
            </a:r>
          </a:p>
        </p:txBody>
      </p:sp>
      <p:sp>
        <p:nvSpPr>
          <p:cNvPr id="6" name="Rectangle: Rounded Corners 5">
            <a:extLst>
              <a:ext uri="{FF2B5EF4-FFF2-40B4-BE49-F238E27FC236}">
                <a16:creationId xmlns:a16="http://schemas.microsoft.com/office/drawing/2014/main" id="{B5CC797D-488C-7F20-0689-0A1FCE7FF1A0}"/>
              </a:ext>
            </a:extLst>
          </p:cNvPr>
          <p:cNvSpPr/>
          <p:nvPr/>
        </p:nvSpPr>
        <p:spPr>
          <a:xfrm>
            <a:off x="11704320" y="6454834"/>
            <a:ext cx="358927" cy="3218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latin typeface="Times New Roman" panose="02020603050405020304" pitchFamily="18" charset="0"/>
                <a:cs typeface="Times New Roman" panose="02020603050405020304" pitchFamily="18" charset="0"/>
              </a:rPr>
              <a:t>2</a:t>
            </a:r>
            <a:endParaRPr lang="fr-CM" sz="2400" dirty="0">
              <a:latin typeface="Times New Roman" panose="02020603050405020304" pitchFamily="18" charset="0"/>
              <a:cs typeface="Times New Roman" panose="02020603050405020304" pitchFamily="18" charset="0"/>
            </a:endParaRPr>
          </a:p>
        </p:txBody>
      </p:sp>
      <p:sp>
        <p:nvSpPr>
          <p:cNvPr id="13" name="ZoneTexte 12">
            <a:extLst>
              <a:ext uri="{FF2B5EF4-FFF2-40B4-BE49-F238E27FC236}">
                <a16:creationId xmlns:a16="http://schemas.microsoft.com/office/drawing/2014/main" id="{5FC52648-3232-5144-BD0D-3409CFE34DDC}"/>
              </a:ext>
            </a:extLst>
          </p:cNvPr>
          <p:cNvSpPr txBox="1"/>
          <p:nvPr/>
        </p:nvSpPr>
        <p:spPr>
          <a:xfrm>
            <a:off x="7843972" y="353444"/>
            <a:ext cx="1793337" cy="461665"/>
          </a:xfrm>
          <a:prstGeom prst="rect">
            <a:avLst/>
          </a:prstGeom>
          <a:noFill/>
        </p:spPr>
        <p:txBody>
          <a:bodyPr wrap="square">
            <a:spAutoFit/>
          </a:bodyPr>
          <a:lstStyle/>
          <a:p>
            <a:r>
              <a:rPr kumimoji="0" lang="fr-TG"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fr-TG"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(b</a:t>
            </a:r>
            <a:r>
              <a:rPr kumimoji="0" lang="fr-FR"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No </a:t>
            </a:r>
            <a:r>
              <a:rPr kumimoji="0" lang="fr-FR"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rivers</a:t>
            </a:r>
            <a:endParaRPr lang="fr-TG" sz="2000" b="1" dirty="0"/>
          </a:p>
        </p:txBody>
      </p:sp>
      <p:pic>
        <p:nvPicPr>
          <p:cNvPr id="5" name="Image2 Copie 1">
            <a:extLst>
              <a:ext uri="{FF2B5EF4-FFF2-40B4-BE49-F238E27FC236}">
                <a16:creationId xmlns:a16="http://schemas.microsoft.com/office/drawing/2014/main" id="{B84193BC-BE9A-9377-718A-9D1BB93AAE11}"/>
              </a:ext>
            </a:extLst>
          </p:cNvPr>
          <p:cNvPicPr/>
          <p:nvPr/>
        </p:nvPicPr>
        <p:blipFill>
          <a:blip r:embed="rId2">
            <a:lum/>
            <a:alphaModFix/>
          </a:blip>
          <a:srcRect t="11833" r="49537" b="12148"/>
          <a:stretch>
            <a:fillRect/>
          </a:stretch>
        </p:blipFill>
        <p:spPr>
          <a:xfrm>
            <a:off x="984066" y="711201"/>
            <a:ext cx="5051367" cy="2717800"/>
          </a:xfrm>
          <a:prstGeom prst="rect">
            <a:avLst/>
          </a:prstGeom>
          <a:noFill/>
        </p:spPr>
      </p:pic>
      <p:pic>
        <p:nvPicPr>
          <p:cNvPr id="7" name="Image5">
            <a:extLst>
              <a:ext uri="{FF2B5EF4-FFF2-40B4-BE49-F238E27FC236}">
                <a16:creationId xmlns:a16="http://schemas.microsoft.com/office/drawing/2014/main" id="{725ED940-86E9-EEFF-3910-5CEA9F9D04EE}"/>
              </a:ext>
            </a:extLst>
          </p:cNvPr>
          <p:cNvPicPr/>
          <p:nvPr/>
        </p:nvPicPr>
        <p:blipFill>
          <a:blip r:embed="rId3">
            <a:lum/>
            <a:alphaModFix/>
          </a:blip>
          <a:srcRect l="49970" t="10280" r="11" b="7767"/>
          <a:stretch>
            <a:fillRect/>
          </a:stretch>
        </p:blipFill>
        <p:spPr>
          <a:xfrm>
            <a:off x="7272059" y="711201"/>
            <a:ext cx="4466157" cy="2717800"/>
          </a:xfrm>
          <a:prstGeom prst="rect">
            <a:avLst/>
          </a:prstGeom>
          <a:noFill/>
        </p:spPr>
      </p:pic>
      <p:pic>
        <p:nvPicPr>
          <p:cNvPr id="15" name="Image7">
            <a:extLst>
              <a:ext uri="{FF2B5EF4-FFF2-40B4-BE49-F238E27FC236}">
                <a16:creationId xmlns:a16="http://schemas.microsoft.com/office/drawing/2014/main" id="{F2EAB737-34E0-15C2-8F68-621A7147385B}"/>
              </a:ext>
            </a:extLst>
          </p:cNvPr>
          <p:cNvPicPr/>
          <p:nvPr/>
        </p:nvPicPr>
        <p:blipFill>
          <a:blip r:embed="rId4">
            <a:lum/>
            <a:alphaModFix/>
          </a:blip>
          <a:srcRect l="49782" t="9226" r="411" b="9272"/>
          <a:stretch>
            <a:fillRect/>
          </a:stretch>
        </p:blipFill>
        <p:spPr>
          <a:xfrm>
            <a:off x="984066" y="3694699"/>
            <a:ext cx="5111934" cy="2553701"/>
          </a:xfrm>
          <a:prstGeom prst="rect">
            <a:avLst/>
          </a:prstGeom>
          <a:noFill/>
        </p:spPr>
      </p:pic>
      <p:pic>
        <p:nvPicPr>
          <p:cNvPr id="16" name="Image6">
            <a:extLst>
              <a:ext uri="{FF2B5EF4-FFF2-40B4-BE49-F238E27FC236}">
                <a16:creationId xmlns:a16="http://schemas.microsoft.com/office/drawing/2014/main" id="{FEDF4605-A3B8-14E1-27A3-345955D6EEEA}"/>
              </a:ext>
            </a:extLst>
          </p:cNvPr>
          <p:cNvPicPr/>
          <p:nvPr/>
        </p:nvPicPr>
        <p:blipFill>
          <a:blip r:embed="rId5">
            <a:lum/>
            <a:alphaModFix/>
          </a:blip>
          <a:srcRect l="3284" t="5958" r="8493" b="2765"/>
          <a:stretch>
            <a:fillRect/>
          </a:stretch>
        </p:blipFill>
        <p:spPr>
          <a:xfrm>
            <a:off x="7370618" y="3694699"/>
            <a:ext cx="4142509" cy="2553701"/>
          </a:xfrm>
          <a:prstGeom prst="rect">
            <a:avLst/>
          </a:prstGeom>
          <a:noFill/>
        </p:spPr>
      </p:pic>
      <p:sp>
        <p:nvSpPr>
          <p:cNvPr id="18" name="ZoneTexte 17">
            <a:extLst>
              <a:ext uri="{FF2B5EF4-FFF2-40B4-BE49-F238E27FC236}">
                <a16:creationId xmlns:a16="http://schemas.microsoft.com/office/drawing/2014/main" id="{AD19389A-6E25-54DC-E18E-2FA4B7B23CD4}"/>
              </a:ext>
            </a:extLst>
          </p:cNvPr>
          <p:cNvSpPr txBox="1"/>
          <p:nvPr/>
        </p:nvSpPr>
        <p:spPr>
          <a:xfrm>
            <a:off x="327379" y="3694699"/>
            <a:ext cx="702988" cy="461665"/>
          </a:xfrm>
          <a:prstGeom prst="rect">
            <a:avLst/>
          </a:prstGeom>
          <a:noFill/>
        </p:spPr>
        <p:txBody>
          <a:bodyPr wrap="square">
            <a:spAutoFit/>
          </a:bodyPr>
          <a:lstStyle/>
          <a:p>
            <a:r>
              <a:rPr lang="fr-TG" sz="2000" b="1" dirty="0">
                <a:latin typeface="Times New Roman" panose="02020603050405020304" pitchFamily="18" charset="0"/>
                <a:cs typeface="Times New Roman" panose="02020603050405020304" pitchFamily="18" charset="0"/>
              </a:rPr>
              <a:t>(</a:t>
            </a:r>
            <a:r>
              <a:rPr lang="fr-FR" sz="2000" b="1" dirty="0">
                <a:latin typeface="Times New Roman" panose="02020603050405020304" pitchFamily="18" charset="0"/>
                <a:cs typeface="Times New Roman" panose="02020603050405020304" pitchFamily="18" charset="0"/>
              </a:rPr>
              <a:t>c)</a:t>
            </a:r>
            <a:r>
              <a:rPr lang="fr-TG" sz="2400" b="1" dirty="0">
                <a:latin typeface="Times New Roman" panose="02020603050405020304" pitchFamily="18" charset="0"/>
                <a:cs typeface="Times New Roman" panose="02020603050405020304" pitchFamily="18" charset="0"/>
              </a:rPr>
              <a:t> </a:t>
            </a:r>
            <a:endParaRPr lang="fr-TG" b="1" dirty="0"/>
          </a:p>
        </p:txBody>
      </p:sp>
      <p:sp>
        <p:nvSpPr>
          <p:cNvPr id="22" name="ZoneTexte 21">
            <a:extLst>
              <a:ext uri="{FF2B5EF4-FFF2-40B4-BE49-F238E27FC236}">
                <a16:creationId xmlns:a16="http://schemas.microsoft.com/office/drawing/2014/main" id="{A0F1D22E-A5D1-35A3-DBA9-E131247876ED}"/>
              </a:ext>
            </a:extLst>
          </p:cNvPr>
          <p:cNvSpPr txBox="1"/>
          <p:nvPr/>
        </p:nvSpPr>
        <p:spPr>
          <a:xfrm>
            <a:off x="6865210" y="3671610"/>
            <a:ext cx="702988" cy="461665"/>
          </a:xfrm>
          <a:prstGeom prst="rect">
            <a:avLst/>
          </a:prstGeom>
          <a:noFill/>
        </p:spPr>
        <p:txBody>
          <a:bodyPr wrap="square">
            <a:spAutoFit/>
          </a:bodyPr>
          <a:lstStyle/>
          <a:p>
            <a:r>
              <a:rPr lang="fr-TG" sz="2000" b="1" dirty="0">
                <a:latin typeface="Times New Roman" panose="02020603050405020304" pitchFamily="18" charset="0"/>
                <a:cs typeface="Times New Roman" panose="02020603050405020304" pitchFamily="18" charset="0"/>
              </a:rPr>
              <a:t>(</a:t>
            </a:r>
            <a:r>
              <a:rPr lang="fr-FR" sz="2000" b="1" dirty="0">
                <a:latin typeface="Times New Roman" panose="02020603050405020304" pitchFamily="18" charset="0"/>
                <a:cs typeface="Times New Roman" panose="02020603050405020304" pitchFamily="18" charset="0"/>
              </a:rPr>
              <a:t>d)</a:t>
            </a:r>
            <a:r>
              <a:rPr lang="fr-TG" sz="2400" b="1" dirty="0">
                <a:latin typeface="Times New Roman" panose="02020603050405020304" pitchFamily="18" charset="0"/>
                <a:cs typeface="Times New Roman" panose="02020603050405020304" pitchFamily="18" charset="0"/>
              </a:rPr>
              <a:t> </a:t>
            </a:r>
            <a:endParaRPr lang="fr-TG" b="1" dirty="0"/>
          </a:p>
        </p:txBody>
      </p:sp>
      <p:sp>
        <p:nvSpPr>
          <p:cNvPr id="24" name="ZoneTexte 23">
            <a:extLst>
              <a:ext uri="{FF2B5EF4-FFF2-40B4-BE49-F238E27FC236}">
                <a16:creationId xmlns:a16="http://schemas.microsoft.com/office/drawing/2014/main" id="{609BABCA-2006-1A94-A074-D49A968BE8EA}"/>
              </a:ext>
            </a:extLst>
          </p:cNvPr>
          <p:cNvSpPr txBox="1"/>
          <p:nvPr/>
        </p:nvSpPr>
        <p:spPr>
          <a:xfrm>
            <a:off x="453784" y="445503"/>
            <a:ext cx="1793337"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(a) : Référence</a:t>
            </a:r>
            <a:endParaRPr lang="fr-TG" sz="2000" b="1" dirty="0"/>
          </a:p>
        </p:txBody>
      </p:sp>
    </p:spTree>
    <p:extLst>
      <p:ext uri="{BB962C8B-B14F-4D97-AF65-F5344CB8AC3E}">
        <p14:creationId xmlns:p14="http://schemas.microsoft.com/office/powerpoint/2010/main" val="1802943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D5C54-0627-2FC9-E83A-B882FC9E2B90}"/>
            </a:ext>
          </a:extLst>
        </p:cNvPr>
        <p:cNvGrpSpPr/>
        <p:nvPr/>
      </p:nvGrpSpPr>
      <p:grpSpPr>
        <a:xfrm>
          <a:off x="0" y="0"/>
          <a:ext cx="0" cy="0"/>
          <a:chOff x="0" y="0"/>
          <a:chExt cx="0" cy="0"/>
        </a:xfrm>
      </p:grpSpPr>
      <p:sp>
        <p:nvSpPr>
          <p:cNvPr id="2" name="ZoneTexte 3">
            <a:extLst>
              <a:ext uri="{FF2B5EF4-FFF2-40B4-BE49-F238E27FC236}">
                <a16:creationId xmlns:a16="http://schemas.microsoft.com/office/drawing/2014/main" id="{63DF047A-4621-FDDF-F230-A34A8E24C94E}"/>
              </a:ext>
            </a:extLst>
          </p:cNvPr>
          <p:cNvSpPr txBox="1"/>
          <p:nvPr/>
        </p:nvSpPr>
        <p:spPr>
          <a:xfrm>
            <a:off x="487864" y="0"/>
            <a:ext cx="11033576" cy="461665"/>
          </a:xfrm>
          <a:prstGeom prst="rect">
            <a:avLst/>
          </a:prstGeom>
          <a:solidFill>
            <a:schemeClr val="tx2"/>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fr-FR" sz="2400" b="1" dirty="0">
                <a:latin typeface="Times New Roman" panose="02020603050405020304" pitchFamily="18" charset="0"/>
                <a:cs typeface="Times New Roman" panose="02020603050405020304" pitchFamily="18" charset="0"/>
              </a:rPr>
              <a:t>Résultats (2/3) : simulation de l’influence de la marée sur les courants de surface</a:t>
            </a:r>
          </a:p>
        </p:txBody>
      </p:sp>
      <p:sp>
        <p:nvSpPr>
          <p:cNvPr id="6" name="Rectangle: Rounded Corners 5">
            <a:extLst>
              <a:ext uri="{FF2B5EF4-FFF2-40B4-BE49-F238E27FC236}">
                <a16:creationId xmlns:a16="http://schemas.microsoft.com/office/drawing/2014/main" id="{EA06C5CD-B38D-134B-688A-D6A9CAC1AE57}"/>
              </a:ext>
            </a:extLst>
          </p:cNvPr>
          <p:cNvSpPr/>
          <p:nvPr/>
        </p:nvSpPr>
        <p:spPr>
          <a:xfrm>
            <a:off x="11704320" y="6454834"/>
            <a:ext cx="358927" cy="3218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latin typeface="Times New Roman" panose="02020603050405020304" pitchFamily="18" charset="0"/>
                <a:cs typeface="Times New Roman" panose="02020603050405020304" pitchFamily="18" charset="0"/>
              </a:rPr>
              <a:t>4</a:t>
            </a:r>
            <a:endParaRPr lang="fr-CM" sz="2400" dirty="0">
              <a:latin typeface="Times New Roman" panose="02020603050405020304" pitchFamily="18" charset="0"/>
              <a:cs typeface="Times New Roman" panose="02020603050405020304" pitchFamily="18" charset="0"/>
            </a:endParaRPr>
          </a:p>
        </p:txBody>
      </p:sp>
      <p:pic>
        <p:nvPicPr>
          <p:cNvPr id="3" name="Image2">
            <a:extLst>
              <a:ext uri="{FF2B5EF4-FFF2-40B4-BE49-F238E27FC236}">
                <a16:creationId xmlns:a16="http://schemas.microsoft.com/office/drawing/2014/main" id="{E3D0D414-B395-5CFC-9D1A-D62DA08BB57E}"/>
              </a:ext>
            </a:extLst>
          </p:cNvPr>
          <p:cNvPicPr/>
          <p:nvPr/>
        </p:nvPicPr>
        <p:blipFill>
          <a:blip r:embed="rId2">
            <a:lum/>
            <a:alphaModFix/>
          </a:blip>
          <a:srcRect t="8182" r="51776" b="8097"/>
          <a:stretch>
            <a:fillRect/>
          </a:stretch>
        </p:blipFill>
        <p:spPr>
          <a:xfrm>
            <a:off x="6931309" y="748280"/>
            <a:ext cx="4952474" cy="2680720"/>
          </a:xfrm>
          <a:prstGeom prst="rect">
            <a:avLst/>
          </a:prstGeom>
        </p:spPr>
      </p:pic>
      <p:pic>
        <p:nvPicPr>
          <p:cNvPr id="4" name="Image1">
            <a:extLst>
              <a:ext uri="{FF2B5EF4-FFF2-40B4-BE49-F238E27FC236}">
                <a16:creationId xmlns:a16="http://schemas.microsoft.com/office/drawing/2014/main" id="{A667DAAE-383B-8166-41E3-14D7D025DED4}"/>
              </a:ext>
            </a:extLst>
          </p:cNvPr>
          <p:cNvPicPr/>
          <p:nvPr/>
        </p:nvPicPr>
        <p:blipFill>
          <a:blip r:embed="rId3">
            <a:lum/>
            <a:alphaModFix/>
          </a:blip>
          <a:srcRect t="9485" r="48075" b="9027"/>
          <a:stretch>
            <a:fillRect/>
          </a:stretch>
        </p:blipFill>
        <p:spPr>
          <a:xfrm>
            <a:off x="1085454" y="748280"/>
            <a:ext cx="4952475" cy="2798484"/>
          </a:xfrm>
          <a:prstGeom prst="rect">
            <a:avLst/>
          </a:prstGeom>
        </p:spPr>
      </p:pic>
      <p:sp>
        <p:nvSpPr>
          <p:cNvPr id="10" name="ZoneTexte 9">
            <a:extLst>
              <a:ext uri="{FF2B5EF4-FFF2-40B4-BE49-F238E27FC236}">
                <a16:creationId xmlns:a16="http://schemas.microsoft.com/office/drawing/2014/main" id="{BC6865F4-38E6-A752-2614-0D48A80B2BC8}"/>
              </a:ext>
            </a:extLst>
          </p:cNvPr>
          <p:cNvSpPr txBox="1"/>
          <p:nvPr/>
        </p:nvSpPr>
        <p:spPr>
          <a:xfrm>
            <a:off x="1067164" y="475520"/>
            <a:ext cx="1793337"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(a) : Référence</a:t>
            </a:r>
            <a:endParaRPr lang="fr-TG" sz="2000" b="1" dirty="0"/>
          </a:p>
        </p:txBody>
      </p:sp>
      <p:sp>
        <p:nvSpPr>
          <p:cNvPr id="11" name="ZoneTexte 10">
            <a:extLst>
              <a:ext uri="{FF2B5EF4-FFF2-40B4-BE49-F238E27FC236}">
                <a16:creationId xmlns:a16="http://schemas.microsoft.com/office/drawing/2014/main" id="{B34C5DAF-50C2-B19B-4F9C-EE42B1042B69}"/>
              </a:ext>
            </a:extLst>
          </p:cNvPr>
          <p:cNvSpPr txBox="1"/>
          <p:nvPr/>
        </p:nvSpPr>
        <p:spPr>
          <a:xfrm>
            <a:off x="6548406" y="548225"/>
            <a:ext cx="1793337"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(b) : No </a:t>
            </a:r>
            <a:r>
              <a:rPr lang="fr-FR" sz="2000" b="1" dirty="0" err="1">
                <a:latin typeface="Times New Roman" panose="02020603050405020304" pitchFamily="18" charset="0"/>
                <a:cs typeface="Times New Roman" panose="02020603050405020304" pitchFamily="18" charset="0"/>
              </a:rPr>
              <a:t>tides</a:t>
            </a:r>
            <a:r>
              <a:rPr lang="fr-FR" sz="2000" b="1" dirty="0">
                <a:latin typeface="Times New Roman" panose="02020603050405020304" pitchFamily="18" charset="0"/>
                <a:cs typeface="Times New Roman" panose="02020603050405020304" pitchFamily="18" charset="0"/>
              </a:rPr>
              <a:t> </a:t>
            </a:r>
            <a:endParaRPr lang="fr-TG" sz="2000" b="1" dirty="0"/>
          </a:p>
        </p:txBody>
      </p:sp>
      <p:pic>
        <p:nvPicPr>
          <p:cNvPr id="5" name="Image8">
            <a:extLst>
              <a:ext uri="{FF2B5EF4-FFF2-40B4-BE49-F238E27FC236}">
                <a16:creationId xmlns:a16="http://schemas.microsoft.com/office/drawing/2014/main" id="{D81F6382-0C2F-49B4-E681-E69DBF1E7B22}"/>
              </a:ext>
            </a:extLst>
          </p:cNvPr>
          <p:cNvPicPr/>
          <p:nvPr/>
        </p:nvPicPr>
        <p:blipFill>
          <a:blip r:embed="rId4">
            <a:lum/>
            <a:alphaModFix/>
          </a:blip>
          <a:srcRect t="9259" r="50122" b="8787"/>
          <a:stretch>
            <a:fillRect/>
          </a:stretch>
        </p:blipFill>
        <p:spPr>
          <a:xfrm>
            <a:off x="3172692" y="3490375"/>
            <a:ext cx="4516580" cy="2819400"/>
          </a:xfrm>
          <a:prstGeom prst="rect">
            <a:avLst/>
          </a:prstGeom>
          <a:noFill/>
        </p:spPr>
      </p:pic>
      <p:sp>
        <p:nvSpPr>
          <p:cNvPr id="9" name="ZoneTexte 8">
            <a:extLst>
              <a:ext uri="{FF2B5EF4-FFF2-40B4-BE49-F238E27FC236}">
                <a16:creationId xmlns:a16="http://schemas.microsoft.com/office/drawing/2014/main" id="{9EC09717-6952-CCA4-4F31-BED73BCE70A8}"/>
              </a:ext>
            </a:extLst>
          </p:cNvPr>
          <p:cNvSpPr txBox="1"/>
          <p:nvPr/>
        </p:nvSpPr>
        <p:spPr>
          <a:xfrm>
            <a:off x="1250327" y="3619469"/>
            <a:ext cx="2077109"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(c) : Différence </a:t>
            </a:r>
            <a:endParaRPr lang="fr-TG" sz="2000" b="1" dirty="0"/>
          </a:p>
        </p:txBody>
      </p:sp>
      <p:sp>
        <p:nvSpPr>
          <p:cNvPr id="8" name="Ellipse 7">
            <a:extLst>
              <a:ext uri="{FF2B5EF4-FFF2-40B4-BE49-F238E27FC236}">
                <a16:creationId xmlns:a16="http://schemas.microsoft.com/office/drawing/2014/main" id="{059156E2-0A13-AE93-028D-AE1296EA02CB}"/>
              </a:ext>
            </a:extLst>
          </p:cNvPr>
          <p:cNvSpPr/>
          <p:nvPr/>
        </p:nvSpPr>
        <p:spPr>
          <a:xfrm>
            <a:off x="8065998" y="4019579"/>
            <a:ext cx="3817786" cy="1619221"/>
          </a:xfrm>
          <a:prstGeom prst="ellipse">
            <a:avLst/>
          </a:prstGeom>
          <a:ln>
            <a:solidFill>
              <a:schemeClr val="tx1">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Arial" panose="020B0604020202020204" pitchFamily="34" charset="0"/>
              <a:buChar char="•"/>
            </a:pPr>
            <a:r>
              <a:rPr lang="fr-FR" dirty="0">
                <a:solidFill>
                  <a:srgbClr val="C00000"/>
                </a:solidFill>
              </a:rPr>
              <a:t>Erreur relative de 25% sur l’amplitude du courant</a:t>
            </a:r>
          </a:p>
          <a:p>
            <a:pPr marL="285750" indent="-285750" algn="ctr">
              <a:buFont typeface="Arial" panose="020B0604020202020204" pitchFamily="34" charset="0"/>
              <a:buChar char="•"/>
            </a:pPr>
            <a:r>
              <a:rPr lang="fr-FR" dirty="0">
                <a:solidFill>
                  <a:srgbClr val="C00000"/>
                </a:solidFill>
              </a:rPr>
              <a:t>Anomalie négative</a:t>
            </a:r>
          </a:p>
          <a:p>
            <a:pPr marL="285750" indent="-285750" algn="ctr">
              <a:buFont typeface="Arial" panose="020B0604020202020204" pitchFamily="34" charset="0"/>
              <a:buChar char="•"/>
            </a:pPr>
            <a:endParaRPr lang="fr-FR" dirty="0">
              <a:solidFill>
                <a:srgbClr val="C00000"/>
              </a:solidFill>
            </a:endParaRPr>
          </a:p>
        </p:txBody>
      </p:sp>
    </p:spTree>
    <p:extLst>
      <p:ext uri="{BB962C8B-B14F-4D97-AF65-F5344CB8AC3E}">
        <p14:creationId xmlns:p14="http://schemas.microsoft.com/office/powerpoint/2010/main" val="4078857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75371-93DF-3E6A-CF5E-FE245842AE6E}"/>
            </a:ext>
          </a:extLst>
        </p:cNvPr>
        <p:cNvGrpSpPr/>
        <p:nvPr/>
      </p:nvGrpSpPr>
      <p:grpSpPr>
        <a:xfrm>
          <a:off x="0" y="0"/>
          <a:ext cx="0" cy="0"/>
          <a:chOff x="0" y="0"/>
          <a:chExt cx="0" cy="0"/>
        </a:xfrm>
      </p:grpSpPr>
      <p:sp>
        <p:nvSpPr>
          <p:cNvPr id="2" name="ZoneTexte 3">
            <a:extLst>
              <a:ext uri="{FF2B5EF4-FFF2-40B4-BE49-F238E27FC236}">
                <a16:creationId xmlns:a16="http://schemas.microsoft.com/office/drawing/2014/main" id="{7ED03353-72EE-231D-AD80-0EAC01B68E40}"/>
              </a:ext>
            </a:extLst>
          </p:cNvPr>
          <p:cNvSpPr txBox="1"/>
          <p:nvPr/>
        </p:nvSpPr>
        <p:spPr>
          <a:xfrm>
            <a:off x="975360" y="0"/>
            <a:ext cx="10546080" cy="461665"/>
          </a:xfrm>
          <a:prstGeom prst="rect">
            <a:avLst/>
          </a:prstGeom>
          <a:solidFill>
            <a:schemeClr val="tx2"/>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fr-FR" sz="2400" b="1" dirty="0">
                <a:latin typeface="Times New Roman" panose="02020603050405020304" pitchFamily="18" charset="0"/>
                <a:cs typeface="Times New Roman" panose="02020603050405020304" pitchFamily="18" charset="0"/>
              </a:rPr>
              <a:t>Résultats (3/3)</a:t>
            </a:r>
          </a:p>
        </p:txBody>
      </p:sp>
      <p:sp>
        <p:nvSpPr>
          <p:cNvPr id="6" name="Rectangle: Rounded Corners 5">
            <a:extLst>
              <a:ext uri="{FF2B5EF4-FFF2-40B4-BE49-F238E27FC236}">
                <a16:creationId xmlns:a16="http://schemas.microsoft.com/office/drawing/2014/main" id="{13795254-BD91-676D-F641-1AF11C7B6589}"/>
              </a:ext>
            </a:extLst>
          </p:cNvPr>
          <p:cNvSpPr/>
          <p:nvPr/>
        </p:nvSpPr>
        <p:spPr>
          <a:xfrm>
            <a:off x="11704320" y="6454834"/>
            <a:ext cx="358927" cy="3218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latin typeface="Times New Roman" panose="02020603050405020304" pitchFamily="18" charset="0"/>
                <a:cs typeface="Times New Roman" panose="02020603050405020304" pitchFamily="18" charset="0"/>
              </a:rPr>
              <a:t>5</a:t>
            </a:r>
            <a:endParaRPr lang="fr-CM" sz="2400" dirty="0">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ECE3AFA9-2CC9-DDFD-8677-99C6FCD518ED}"/>
              </a:ext>
            </a:extLst>
          </p:cNvPr>
          <p:cNvSpPr txBox="1"/>
          <p:nvPr/>
        </p:nvSpPr>
        <p:spPr>
          <a:xfrm>
            <a:off x="1725070" y="795095"/>
            <a:ext cx="9579055" cy="769441"/>
          </a:xfrm>
          <a:prstGeom prst="rect">
            <a:avLst/>
          </a:prstGeom>
          <a:noFill/>
        </p:spPr>
        <p:txBody>
          <a:bodyPr wrap="square">
            <a:spAutoFit/>
          </a:bodyPr>
          <a:lstStyle/>
          <a:p>
            <a:pPr algn="ctr"/>
            <a:r>
              <a:rPr lang="fr-FR" sz="2200" u="sng" dirty="0">
                <a:latin typeface="Times New Roman" panose="02020603050405020304" pitchFamily="18" charset="0"/>
                <a:cs typeface="Times New Roman" panose="02020603050405020304" pitchFamily="18" charset="0"/>
              </a:rPr>
              <a:t>Figure </a:t>
            </a:r>
            <a:r>
              <a:rPr lang="fr-FR" sz="2200" dirty="0">
                <a:latin typeface="Times New Roman" panose="02020603050405020304" pitchFamily="18" charset="0"/>
                <a:cs typeface="Times New Roman" panose="02020603050405020304" pitchFamily="18" charset="0"/>
              </a:rPr>
              <a:t>: Sensibilité de la résolution sur les structures de vorticité à la côte </a:t>
            </a:r>
          </a:p>
          <a:p>
            <a:pPr algn="ctr"/>
            <a:r>
              <a:rPr lang="fr-FR" sz="2200" dirty="0">
                <a:latin typeface="Times New Roman" panose="02020603050405020304" pitchFamily="18" charset="0"/>
                <a:cs typeface="Times New Roman" panose="02020603050405020304" pitchFamily="18" charset="0"/>
              </a:rPr>
              <a:t>                     (a) </a:t>
            </a:r>
            <a:r>
              <a:rPr lang="fr-FR" sz="2200" dirty="0" err="1">
                <a:latin typeface="Times New Roman" panose="02020603050405020304" pitchFamily="18" charset="0"/>
                <a:cs typeface="Times New Roman" panose="02020603050405020304" pitchFamily="18" charset="0"/>
              </a:rPr>
              <a:t>rés</a:t>
            </a:r>
            <a:r>
              <a:rPr lang="fr-FR" sz="2200" dirty="0">
                <a:latin typeface="Times New Roman" panose="02020603050405020304" pitchFamily="18" charset="0"/>
                <a:cs typeface="Times New Roman" panose="02020603050405020304" pitchFamily="18" charset="0"/>
              </a:rPr>
              <a:t> 1/12° ; (b) </a:t>
            </a:r>
            <a:r>
              <a:rPr lang="fr-FR" sz="2200" dirty="0" err="1">
                <a:latin typeface="Times New Roman" panose="02020603050405020304" pitchFamily="18" charset="0"/>
                <a:cs typeface="Times New Roman" panose="02020603050405020304" pitchFamily="18" charset="0"/>
              </a:rPr>
              <a:t>rés</a:t>
            </a:r>
            <a:r>
              <a:rPr lang="fr-FR" sz="2200" dirty="0">
                <a:latin typeface="Times New Roman" panose="02020603050405020304" pitchFamily="18" charset="0"/>
                <a:cs typeface="Times New Roman" panose="02020603050405020304" pitchFamily="18" charset="0"/>
              </a:rPr>
              <a:t> 1/36</a:t>
            </a:r>
            <a:endParaRPr lang="fr-TG" sz="2200" dirty="0">
              <a:latin typeface="Times New Roman" panose="02020603050405020304" pitchFamily="18" charset="0"/>
              <a:cs typeface="Times New Roman" panose="02020603050405020304" pitchFamily="18" charset="0"/>
            </a:endParaRPr>
          </a:p>
        </p:txBody>
      </p:sp>
      <p:pic>
        <p:nvPicPr>
          <p:cNvPr id="5" name="Image3">
            <a:extLst>
              <a:ext uri="{FF2B5EF4-FFF2-40B4-BE49-F238E27FC236}">
                <a16:creationId xmlns:a16="http://schemas.microsoft.com/office/drawing/2014/main" id="{B0F7DA0C-6A26-A090-D21F-9831E468DFE2}"/>
              </a:ext>
            </a:extLst>
          </p:cNvPr>
          <p:cNvPicPr/>
          <p:nvPr/>
        </p:nvPicPr>
        <p:blipFill>
          <a:blip r:embed="rId2">
            <a:lum/>
            <a:alphaModFix/>
          </a:blip>
          <a:srcRect/>
          <a:stretch>
            <a:fillRect/>
          </a:stretch>
        </p:blipFill>
        <p:spPr>
          <a:xfrm>
            <a:off x="425489" y="1747640"/>
            <a:ext cx="11634952" cy="4199839"/>
          </a:xfrm>
          <a:prstGeom prst="rect">
            <a:avLst/>
          </a:prstGeom>
        </p:spPr>
      </p:pic>
      <p:sp>
        <p:nvSpPr>
          <p:cNvPr id="9" name="ZoneTexte 8">
            <a:extLst>
              <a:ext uri="{FF2B5EF4-FFF2-40B4-BE49-F238E27FC236}">
                <a16:creationId xmlns:a16="http://schemas.microsoft.com/office/drawing/2014/main" id="{B459B06A-473F-8E10-EBB1-E86336155FF2}"/>
              </a:ext>
            </a:extLst>
          </p:cNvPr>
          <p:cNvSpPr txBox="1"/>
          <p:nvPr/>
        </p:nvSpPr>
        <p:spPr>
          <a:xfrm>
            <a:off x="131559" y="1356827"/>
            <a:ext cx="895121"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(a)</a:t>
            </a:r>
            <a:endParaRPr lang="fr-TG" sz="2000" b="1" dirty="0"/>
          </a:p>
        </p:txBody>
      </p:sp>
      <p:sp>
        <p:nvSpPr>
          <p:cNvPr id="11" name="ZoneTexte 10">
            <a:extLst>
              <a:ext uri="{FF2B5EF4-FFF2-40B4-BE49-F238E27FC236}">
                <a16:creationId xmlns:a16="http://schemas.microsoft.com/office/drawing/2014/main" id="{9E90973A-D7B6-F889-30EC-AA896BB3A793}"/>
              </a:ext>
            </a:extLst>
          </p:cNvPr>
          <p:cNvSpPr txBox="1"/>
          <p:nvPr/>
        </p:nvSpPr>
        <p:spPr>
          <a:xfrm>
            <a:off x="10607308" y="1699149"/>
            <a:ext cx="696817"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(b)</a:t>
            </a:r>
            <a:endParaRPr lang="fr-TG" sz="2000" b="1" dirty="0"/>
          </a:p>
        </p:txBody>
      </p:sp>
      <p:sp>
        <p:nvSpPr>
          <p:cNvPr id="3" name="Rectangle 2">
            <a:extLst>
              <a:ext uri="{FF2B5EF4-FFF2-40B4-BE49-F238E27FC236}">
                <a16:creationId xmlns:a16="http://schemas.microsoft.com/office/drawing/2014/main" id="{285A26F9-8967-768A-FDBE-48CE9DD35221}"/>
              </a:ext>
            </a:extLst>
          </p:cNvPr>
          <p:cNvSpPr/>
          <p:nvPr/>
        </p:nvSpPr>
        <p:spPr>
          <a:xfrm>
            <a:off x="774648" y="2796556"/>
            <a:ext cx="3332480" cy="830997"/>
          </a:xfrm>
          <a:prstGeom prst="rect">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TG"/>
          </a:p>
        </p:txBody>
      </p:sp>
      <p:cxnSp>
        <p:nvCxnSpPr>
          <p:cNvPr id="7" name="Connecteur droit avec flèche 6">
            <a:extLst>
              <a:ext uri="{FF2B5EF4-FFF2-40B4-BE49-F238E27FC236}">
                <a16:creationId xmlns:a16="http://schemas.microsoft.com/office/drawing/2014/main" id="{32F3B9E3-8CBB-6DFA-00A1-7B7FF74F51F2}"/>
              </a:ext>
            </a:extLst>
          </p:cNvPr>
          <p:cNvCxnSpPr>
            <a:cxnSpLocks/>
          </p:cNvCxnSpPr>
          <p:nvPr/>
        </p:nvCxnSpPr>
        <p:spPr>
          <a:xfrm>
            <a:off x="4064000" y="2796556"/>
            <a:ext cx="2032000" cy="489857"/>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Ellipse 3">
            <a:extLst>
              <a:ext uri="{FF2B5EF4-FFF2-40B4-BE49-F238E27FC236}">
                <a16:creationId xmlns:a16="http://schemas.microsoft.com/office/drawing/2014/main" id="{D355145C-B665-97F2-621F-7F206FC71252}"/>
              </a:ext>
            </a:extLst>
          </p:cNvPr>
          <p:cNvSpPr/>
          <p:nvPr/>
        </p:nvSpPr>
        <p:spPr>
          <a:xfrm>
            <a:off x="1911926" y="5640726"/>
            <a:ext cx="9005455" cy="489857"/>
          </a:xfrm>
          <a:prstGeom prst="ellipse">
            <a:avLst/>
          </a:prstGeom>
          <a:ln>
            <a:solidFill>
              <a:schemeClr val="tx1">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dirty="0">
                <a:solidFill>
                  <a:srgbClr val="C00000"/>
                </a:solidFill>
              </a:rPr>
              <a:t>Meilleure résolution des structures de vorticité à la côte  au 1/36</a:t>
            </a:r>
          </a:p>
        </p:txBody>
      </p:sp>
    </p:spTree>
    <p:extLst>
      <p:ext uri="{BB962C8B-B14F-4D97-AF65-F5344CB8AC3E}">
        <p14:creationId xmlns:p14="http://schemas.microsoft.com/office/powerpoint/2010/main" val="3954899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F3640A6E-5504-4E1E-9F80-C22E0F7A8CE9}"/>
              </a:ext>
            </a:extLst>
          </p:cNvPr>
          <p:cNvSpPr txBox="1"/>
          <p:nvPr/>
        </p:nvSpPr>
        <p:spPr>
          <a:xfrm>
            <a:off x="1073410" y="11017"/>
            <a:ext cx="9692640" cy="461665"/>
          </a:xfrm>
          <a:prstGeom prst="rect">
            <a:avLst/>
          </a:prstGeom>
          <a:solidFill>
            <a:schemeClr val="tx2"/>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fr-TG" dirty="0"/>
              <a:t> </a:t>
            </a:r>
            <a:r>
              <a:rPr lang="fr-FR" dirty="0"/>
              <a:t>             </a:t>
            </a:r>
            <a:r>
              <a:rPr lang="fr-TG" sz="2400" dirty="0">
                <a:latin typeface="Times New Roman" panose="02020603050405020304" pitchFamily="18" charset="0"/>
                <a:cs typeface="Times New Roman" panose="02020603050405020304" pitchFamily="18" charset="0"/>
              </a:rPr>
              <a:t>Briefing SAR Opérationnel </a:t>
            </a:r>
            <a:r>
              <a:rPr lang="fr-FR" sz="2400" dirty="0">
                <a:latin typeface="Times New Roman" panose="02020603050405020304" pitchFamily="18" charset="0"/>
                <a:cs typeface="Times New Roman" panose="02020603050405020304" pitchFamily="18" charset="0"/>
              </a:rPr>
              <a:t>et</a:t>
            </a:r>
            <a:r>
              <a:rPr lang="fr-TG" sz="2400" dirty="0">
                <a:latin typeface="Times New Roman" panose="02020603050405020304" pitchFamily="18" charset="0"/>
                <a:cs typeface="Times New Roman" panose="02020603050405020304" pitchFamily="18" charset="0"/>
              </a:rPr>
              <a:t> Impact du Forçage Océanique</a:t>
            </a:r>
            <a:endParaRPr lang="fr-FR" sz="2400" dirty="0">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5E8A09C6-9B76-4A63-B571-5CC8E510A95E}"/>
              </a:ext>
            </a:extLst>
          </p:cNvPr>
          <p:cNvSpPr/>
          <p:nvPr/>
        </p:nvSpPr>
        <p:spPr>
          <a:xfrm>
            <a:off x="11705168" y="6464994"/>
            <a:ext cx="391885" cy="2514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6</a:t>
            </a:r>
            <a:endParaRPr lang="fr-CM" dirty="0"/>
          </a:p>
        </p:txBody>
      </p:sp>
      <p:sp>
        <p:nvSpPr>
          <p:cNvPr id="6" name="ZoneTexte 5">
            <a:extLst>
              <a:ext uri="{FF2B5EF4-FFF2-40B4-BE49-F238E27FC236}">
                <a16:creationId xmlns:a16="http://schemas.microsoft.com/office/drawing/2014/main" id="{24705EB9-703A-FDD7-4128-89C5E7030737}"/>
              </a:ext>
            </a:extLst>
          </p:cNvPr>
          <p:cNvSpPr txBox="1"/>
          <p:nvPr/>
        </p:nvSpPr>
        <p:spPr>
          <a:xfrm>
            <a:off x="649870" y="1020428"/>
            <a:ext cx="11964973" cy="830997"/>
          </a:xfrm>
          <a:prstGeom prst="rect">
            <a:avLst/>
          </a:prstGeom>
          <a:noFill/>
        </p:spPr>
        <p:txBody>
          <a:bodyPr wrap="square">
            <a:spAutoFit/>
          </a:bodyPr>
          <a:lstStyle/>
          <a:p>
            <a:pPr marR="0" lvl="0" algn="l"/>
            <a:r>
              <a:rPr lang="fr-TG" sz="2400" i="0" u="sng" dirty="0">
                <a:solidFill>
                  <a:schemeClr val="tx1"/>
                </a:solidFill>
                <a:effectLst/>
                <a:latin typeface="Times New Roman" panose="02020603050405020304" pitchFamily="18" charset="0"/>
                <a:cs typeface="Times New Roman" panose="02020603050405020304" pitchFamily="18" charset="0"/>
              </a:rPr>
              <a:t>Simulation </a:t>
            </a:r>
            <a:r>
              <a:rPr lang="fr-FR" sz="2400" i="0" u="sng" dirty="0">
                <a:solidFill>
                  <a:schemeClr val="tx1"/>
                </a:solidFill>
                <a:effectLst/>
                <a:latin typeface="Times New Roman" panose="02020603050405020304" pitchFamily="18" charset="0"/>
                <a:cs typeface="Times New Roman" panose="02020603050405020304" pitchFamily="18" charset="0"/>
              </a:rPr>
              <a:t>d</a:t>
            </a:r>
            <a:r>
              <a:rPr lang="fr-TG" sz="2400" i="0" u="sng" dirty="0">
                <a:solidFill>
                  <a:schemeClr val="tx1"/>
                </a:solidFill>
                <a:effectLst/>
                <a:latin typeface="Times New Roman" panose="02020603050405020304" pitchFamily="18" charset="0"/>
                <a:cs typeface="Times New Roman" panose="02020603050405020304" pitchFamily="18" charset="0"/>
              </a:rPr>
              <a:t>éterministe </a:t>
            </a:r>
            <a:r>
              <a:rPr lang="fr-TG" sz="2400" b="1" i="0" dirty="0">
                <a:solidFill>
                  <a:schemeClr val="tx1"/>
                </a:solidFill>
                <a:effectLst/>
                <a:latin typeface="Times New Roman" panose="02020603050405020304" pitchFamily="18" charset="0"/>
                <a:cs typeface="Times New Roman" panose="02020603050405020304" pitchFamily="18" charset="0"/>
              </a:rPr>
              <a:t>:</a:t>
            </a:r>
            <a:r>
              <a:rPr lang="fr-TG" sz="2400" b="0" i="0" dirty="0">
                <a:solidFill>
                  <a:schemeClr val="tx1"/>
                </a:solidFill>
                <a:effectLst/>
                <a:latin typeface="Times New Roman" panose="02020603050405020304" pitchFamily="18" charset="0"/>
                <a:cs typeface="Times New Roman" panose="02020603050405020304" pitchFamily="18" charset="0"/>
              </a:rPr>
              <a:t> Utilisation du module Leeway d'OpenDrift pour simuler particule</a:t>
            </a:r>
            <a:r>
              <a:rPr lang="fr-FR" sz="2400" dirty="0">
                <a:latin typeface="Times New Roman" panose="02020603050405020304" pitchFamily="18" charset="0"/>
                <a:cs typeface="Times New Roman" panose="02020603050405020304" pitchFamily="18" charset="0"/>
              </a:rPr>
              <a:t> &amp;</a:t>
            </a:r>
            <a:r>
              <a:rPr lang="fr-TG" sz="2400" b="0" i="0" dirty="0">
                <a:solidFill>
                  <a:schemeClr val="tx1"/>
                </a:solidFill>
                <a:effectLst/>
                <a:latin typeface="Times New Roman" panose="02020603050405020304" pitchFamily="18" charset="0"/>
                <a:cs typeface="Times New Roman" panose="02020603050405020304" pitchFamily="18" charset="0"/>
              </a:rPr>
              <a:t> </a:t>
            </a:r>
            <a:r>
              <a:rPr lang="fr-FR" sz="2400" b="0" i="0" dirty="0">
                <a:solidFill>
                  <a:schemeClr val="tx1"/>
                </a:solidFill>
                <a:effectLst/>
                <a:latin typeface="Times New Roman" panose="02020603050405020304" pitchFamily="18" charset="0"/>
                <a:cs typeface="Times New Roman" panose="02020603050405020304" pitchFamily="18" charset="0"/>
              </a:rPr>
              <a:t>P</a:t>
            </a:r>
            <a:r>
              <a:rPr lang="fr-TG" sz="2400" b="0" i="0" dirty="0">
                <a:solidFill>
                  <a:schemeClr val="tx1"/>
                </a:solidFill>
                <a:effectLst/>
                <a:latin typeface="Times New Roman" panose="02020603050405020304" pitchFamily="18" charset="0"/>
                <a:cs typeface="Times New Roman" panose="02020603050405020304" pitchFamily="18" charset="0"/>
              </a:rPr>
              <a:t>ersonne à la mer à partir d'une position et d'un instant donnés</a:t>
            </a:r>
            <a:r>
              <a:rPr lang="fr-TG" b="0" i="0" dirty="0">
                <a:solidFill>
                  <a:schemeClr val="tx1"/>
                </a:solidFill>
                <a:effectLst/>
                <a:latin typeface="+mn-lt"/>
              </a:rPr>
              <a:t>.</a:t>
            </a:r>
            <a:endParaRPr lang="fr-TG" b="0" i="0" dirty="0">
              <a:solidFill>
                <a:srgbClr val="222222"/>
              </a:solidFill>
              <a:effectLst/>
              <a:latin typeface="Google Sans Text"/>
            </a:endParaRPr>
          </a:p>
        </p:txBody>
      </p:sp>
      <p:sp>
        <p:nvSpPr>
          <p:cNvPr id="9" name="ZoneTexte 8">
            <a:extLst>
              <a:ext uri="{FF2B5EF4-FFF2-40B4-BE49-F238E27FC236}">
                <a16:creationId xmlns:a16="http://schemas.microsoft.com/office/drawing/2014/main" id="{30A5CCC0-13DA-28C4-8F65-CA855D5FBC51}"/>
              </a:ext>
            </a:extLst>
          </p:cNvPr>
          <p:cNvSpPr txBox="1"/>
          <p:nvPr/>
        </p:nvSpPr>
        <p:spPr>
          <a:xfrm>
            <a:off x="649871" y="2600042"/>
            <a:ext cx="11964973" cy="1200329"/>
          </a:xfrm>
          <a:prstGeom prst="rect">
            <a:avLst/>
          </a:prstGeom>
          <a:noFill/>
        </p:spPr>
        <p:txBody>
          <a:bodyPr wrap="square">
            <a:spAutoFit/>
          </a:bodyPr>
          <a:lstStyle/>
          <a:p>
            <a:pPr marR="0" lvl="0" algn="l"/>
            <a:r>
              <a:rPr lang="fr-TG" sz="2400" i="0" u="sng" dirty="0">
                <a:solidFill>
                  <a:schemeClr val="tx1"/>
                </a:solidFill>
                <a:effectLst/>
                <a:latin typeface="Times New Roman" panose="02020603050405020304" pitchFamily="18" charset="0"/>
                <a:cs typeface="Times New Roman" panose="02020603050405020304" pitchFamily="18" charset="0"/>
              </a:rPr>
              <a:t>D</a:t>
            </a:r>
            <a:r>
              <a:rPr lang="fr-FR" sz="2400" i="0" u="sng" dirty="0">
                <a:solidFill>
                  <a:schemeClr val="tx1"/>
                </a:solidFill>
                <a:effectLst/>
                <a:latin typeface="Times New Roman" panose="02020603050405020304" pitchFamily="18" charset="0"/>
                <a:cs typeface="Times New Roman" panose="02020603050405020304" pitchFamily="18" charset="0"/>
              </a:rPr>
              <a:t>eux</a:t>
            </a:r>
            <a:r>
              <a:rPr lang="fr-TG" sz="2400" i="0" u="sng" dirty="0">
                <a:solidFill>
                  <a:schemeClr val="tx1"/>
                </a:solidFill>
                <a:effectLst/>
                <a:latin typeface="Times New Roman" panose="02020603050405020304" pitchFamily="18" charset="0"/>
                <a:cs typeface="Times New Roman" panose="02020603050405020304" pitchFamily="18" charset="0"/>
              </a:rPr>
              <a:t> Forçage</a:t>
            </a:r>
            <a:r>
              <a:rPr lang="fr-FR" sz="2400" i="0" u="sng" dirty="0">
                <a:solidFill>
                  <a:schemeClr val="tx1"/>
                </a:solidFill>
                <a:effectLst/>
                <a:latin typeface="Times New Roman" panose="02020603050405020304" pitchFamily="18" charset="0"/>
                <a:cs typeface="Times New Roman" panose="02020603050405020304" pitchFamily="18" charset="0"/>
              </a:rPr>
              <a:t>s</a:t>
            </a:r>
            <a:r>
              <a:rPr lang="fr-TG" sz="2400" i="0" u="sng" dirty="0">
                <a:solidFill>
                  <a:schemeClr val="tx1"/>
                </a:solidFill>
                <a:effectLst/>
                <a:latin typeface="Times New Roman" panose="02020603050405020304" pitchFamily="18" charset="0"/>
                <a:cs typeface="Times New Roman" panose="02020603050405020304" pitchFamily="18" charset="0"/>
              </a:rPr>
              <a:t> Océanique</a:t>
            </a:r>
            <a:r>
              <a:rPr lang="fr-FR" sz="2400" i="0" u="sng" dirty="0">
                <a:solidFill>
                  <a:schemeClr val="tx1"/>
                </a:solidFill>
                <a:effectLst/>
                <a:latin typeface="Times New Roman" panose="02020603050405020304" pitchFamily="18" charset="0"/>
                <a:cs typeface="Times New Roman" panose="02020603050405020304" pitchFamily="18" charset="0"/>
              </a:rPr>
              <a:t> (pour comparaison)</a:t>
            </a:r>
            <a:r>
              <a:rPr lang="fr-TG" sz="2400" i="0" u="sng" dirty="0">
                <a:solidFill>
                  <a:schemeClr val="tx1"/>
                </a:solidFill>
                <a:effectLst/>
                <a:latin typeface="Times New Roman" panose="02020603050405020304" pitchFamily="18" charset="0"/>
                <a:cs typeface="Times New Roman" panose="02020603050405020304" pitchFamily="18" charset="0"/>
              </a:rPr>
              <a:t> :</a:t>
            </a:r>
          </a:p>
          <a:p>
            <a:pPr marL="0" marR="0" lvl="1" algn="l"/>
            <a:r>
              <a:rPr lang="fr-TG" sz="2400" b="1" i="0" dirty="0">
                <a:solidFill>
                  <a:schemeClr val="tx1"/>
                </a:solidFill>
                <a:effectLst/>
                <a:latin typeface="Times New Roman" panose="02020603050405020304" pitchFamily="18" charset="0"/>
                <a:cs typeface="Times New Roman" panose="02020603050405020304" pitchFamily="18" charset="0"/>
              </a:rPr>
              <a:t>GLORYS12</a:t>
            </a:r>
            <a:r>
              <a:rPr lang="fr-TG" sz="2400" b="0" i="0" dirty="0">
                <a:solidFill>
                  <a:schemeClr val="tx1"/>
                </a:solidFill>
                <a:effectLst/>
                <a:latin typeface="Times New Roman" panose="02020603050405020304" pitchFamily="18" charset="0"/>
                <a:cs typeface="Times New Roman" panose="02020603050405020304" pitchFamily="18" charset="0"/>
              </a:rPr>
              <a:t> (Global,</a:t>
            </a:r>
            <a:r>
              <a:rPr lang="fr-FR" sz="2400" b="0" i="0" dirty="0">
                <a:solidFill>
                  <a:schemeClr val="tx1"/>
                </a:solidFill>
                <a:effectLst/>
                <a:latin typeface="Times New Roman" panose="02020603050405020304" pitchFamily="18" charset="0"/>
                <a:cs typeface="Times New Roman" panose="02020603050405020304" pitchFamily="18" charset="0"/>
              </a:rPr>
              <a:t> </a:t>
            </a:r>
            <a:r>
              <a:rPr lang="fr-TG" sz="2400" b="0" i="0" dirty="0">
                <a:solidFill>
                  <a:schemeClr val="tx1"/>
                </a:solidFill>
                <a:effectLst/>
                <a:latin typeface="Times New Roman" panose="02020603050405020304" pitchFamily="18" charset="0"/>
                <a:cs typeface="Times New Roman" panose="02020603050405020304" pitchFamily="18" charset="0"/>
              </a:rPr>
              <a:t>9 km, moyennes journalières).</a:t>
            </a:r>
          </a:p>
          <a:p>
            <a:pPr marL="0" marR="0" lvl="1" algn="l"/>
            <a:r>
              <a:rPr lang="fr-TG" sz="2400" b="1" i="0" dirty="0">
                <a:solidFill>
                  <a:schemeClr val="tx1"/>
                </a:solidFill>
                <a:effectLst/>
                <a:latin typeface="Times New Roman" panose="02020603050405020304" pitchFamily="18" charset="0"/>
                <a:cs typeface="Times New Roman" panose="02020603050405020304" pitchFamily="18" charset="0"/>
              </a:rPr>
              <a:t>CROCO</a:t>
            </a:r>
            <a:r>
              <a:rPr lang="fr-TG" sz="2400" b="0" i="0" dirty="0">
                <a:solidFill>
                  <a:schemeClr val="tx1"/>
                </a:solidFill>
                <a:effectLst/>
                <a:latin typeface="Times New Roman" panose="02020603050405020304" pitchFamily="18" charset="0"/>
                <a:cs typeface="Times New Roman" panose="02020603050405020304" pitchFamily="18" charset="0"/>
              </a:rPr>
              <a:t> (Régional côtier, 3 km, haute résolution).</a:t>
            </a:r>
            <a:endParaRPr lang="fr-TG" sz="2400" b="0" i="0" dirty="0">
              <a:solidFill>
                <a:srgbClr val="222222"/>
              </a:solidFill>
              <a:effectLst/>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E5B9C9AD-1259-45FD-231A-D7CD961E1F89}"/>
              </a:ext>
            </a:extLst>
          </p:cNvPr>
          <p:cNvSpPr txBox="1"/>
          <p:nvPr/>
        </p:nvSpPr>
        <p:spPr>
          <a:xfrm>
            <a:off x="649872" y="4466609"/>
            <a:ext cx="11494308" cy="1569660"/>
          </a:xfrm>
          <a:prstGeom prst="rect">
            <a:avLst/>
          </a:prstGeom>
          <a:noFill/>
        </p:spPr>
        <p:txBody>
          <a:bodyPr wrap="square">
            <a:spAutoFit/>
          </a:bodyPr>
          <a:lstStyle/>
          <a:p>
            <a:pPr marR="0" lvl="0" algn="l"/>
            <a:r>
              <a:rPr lang="fr-TG" sz="2400" i="0" u="sng" dirty="0">
                <a:solidFill>
                  <a:schemeClr val="tx1"/>
                </a:solidFill>
                <a:effectLst/>
                <a:latin typeface="Times New Roman" panose="02020603050405020304" pitchFamily="18" charset="0"/>
                <a:cs typeface="Times New Roman" panose="02020603050405020304" pitchFamily="18" charset="0"/>
              </a:rPr>
              <a:t>Indicateurs Géométriques </a:t>
            </a:r>
            <a:r>
              <a:rPr lang="fr-FR" sz="2400" i="0" u="sng" dirty="0">
                <a:solidFill>
                  <a:schemeClr val="tx1"/>
                </a:solidFill>
                <a:effectLst/>
                <a:latin typeface="Times New Roman" panose="02020603050405020304" pitchFamily="18" charset="0"/>
                <a:cs typeface="Times New Roman" panose="02020603050405020304" pitchFamily="18" charset="0"/>
              </a:rPr>
              <a:t>et </a:t>
            </a:r>
            <a:r>
              <a:rPr lang="fr-TG" sz="2400" i="0" u="sng" dirty="0">
                <a:solidFill>
                  <a:schemeClr val="tx1"/>
                </a:solidFill>
                <a:effectLst/>
                <a:latin typeface="Times New Roman" panose="02020603050405020304" pitchFamily="18" charset="0"/>
                <a:cs typeface="Times New Roman" panose="02020603050405020304" pitchFamily="18" charset="0"/>
              </a:rPr>
              <a:t> Statistiques :</a:t>
            </a:r>
          </a:p>
          <a:p>
            <a:pPr marL="0" marR="0" lvl="1" algn="l"/>
            <a:r>
              <a:rPr lang="fr-TG" sz="2400" b="0" i="0" dirty="0">
                <a:solidFill>
                  <a:schemeClr val="tx1"/>
                </a:solidFill>
                <a:effectLst/>
                <a:latin typeface="Times New Roman" panose="02020603050405020304" pitchFamily="18" charset="0"/>
                <a:cs typeface="Times New Roman" panose="02020603050405020304" pitchFamily="18" charset="0"/>
              </a:rPr>
              <a:t>Calcul des enveloppes convexes pour délimiter les zones de recherche à 24h</a:t>
            </a:r>
            <a:r>
              <a:rPr lang="fr-FR" sz="2400" b="0" i="0" dirty="0">
                <a:solidFill>
                  <a:schemeClr val="tx1"/>
                </a:solidFill>
                <a:effectLst/>
                <a:latin typeface="Times New Roman" panose="02020603050405020304" pitchFamily="18" charset="0"/>
                <a:cs typeface="Times New Roman" panose="02020603050405020304" pitchFamily="18" charset="0"/>
              </a:rPr>
              <a:t>, 48h, 72h</a:t>
            </a:r>
            <a:r>
              <a:rPr lang="fr-TG" sz="2400" b="0" i="0" dirty="0">
                <a:solidFill>
                  <a:schemeClr val="tx1"/>
                </a:solidFill>
                <a:effectLst/>
                <a:latin typeface="Times New Roman" panose="02020603050405020304" pitchFamily="18" charset="0"/>
                <a:cs typeface="Times New Roman" panose="02020603050405020304" pitchFamily="18" charset="0"/>
              </a:rPr>
              <a:t>.</a:t>
            </a:r>
          </a:p>
          <a:p>
            <a:pPr marL="0" marR="0" lvl="1" algn="l"/>
            <a:r>
              <a:rPr lang="fr-TG" sz="2400" b="0" i="0" dirty="0">
                <a:solidFill>
                  <a:schemeClr val="tx1"/>
                </a:solidFill>
                <a:effectLst/>
                <a:latin typeface="Times New Roman" panose="02020603050405020304" pitchFamily="18" charset="0"/>
                <a:cs typeface="Times New Roman" panose="02020603050405020304" pitchFamily="18" charset="0"/>
              </a:rPr>
              <a:t>Calcul de la différence relative de surface et de la distance de séparation entre les centroïdes des deux </a:t>
            </a:r>
            <a:r>
              <a:rPr lang="fr-FR" sz="2400" dirty="0">
                <a:latin typeface="Times New Roman" panose="02020603050405020304" pitchFamily="18" charset="0"/>
                <a:cs typeface="Times New Roman" panose="02020603050405020304" pitchFamily="18" charset="0"/>
              </a:rPr>
              <a:t>simulations</a:t>
            </a:r>
            <a:r>
              <a:rPr lang="fr-TG" sz="2400" b="0" i="0" dirty="0">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72170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055EE-2A68-AB80-7DBF-D9C153ED60DE}"/>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0298C218-80F2-3921-2E69-B84B20BD9DAC}"/>
              </a:ext>
            </a:extLst>
          </p:cNvPr>
          <p:cNvSpPr txBox="1"/>
          <p:nvPr/>
        </p:nvSpPr>
        <p:spPr>
          <a:xfrm>
            <a:off x="2560320" y="0"/>
            <a:ext cx="7071360" cy="461665"/>
          </a:xfrm>
          <a:prstGeom prst="rect">
            <a:avLst/>
          </a:prstGeom>
          <a:solidFill>
            <a:schemeClr val="tx2"/>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fr-TG" dirty="0"/>
              <a:t> </a:t>
            </a:r>
            <a:r>
              <a:rPr lang="fr-TG" sz="2400" u="sng" dirty="0">
                <a:latin typeface="Times New Roman" panose="02020603050405020304" pitchFamily="18" charset="0"/>
                <a:cs typeface="Times New Roman" panose="02020603050405020304" pitchFamily="18" charset="0"/>
              </a:rPr>
              <a:t>Exercice 3 </a:t>
            </a:r>
            <a:r>
              <a:rPr lang="fr-FR" sz="2400" dirty="0">
                <a:latin typeface="Times New Roman" panose="02020603050405020304" pitchFamily="18" charset="0"/>
                <a:cs typeface="Times New Roman" panose="02020603050405020304" pitchFamily="18" charset="0"/>
              </a:rPr>
              <a:t>:</a:t>
            </a:r>
            <a:r>
              <a:rPr lang="pt-BR" sz="2400" dirty="0">
                <a:latin typeface="Times New Roman" panose="02020603050405020304" pitchFamily="18" charset="0"/>
                <a:cs typeface="Times New Roman" panose="02020603050405020304" pitchFamily="18" charset="0"/>
              </a:rPr>
              <a:t>Résultats Clés  et Analyse Comparative</a:t>
            </a:r>
            <a:endParaRPr lang="fr-TG" sz="2400" dirty="0">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6A9AB0E8-4735-5C62-2F05-AC9C71540794}"/>
              </a:ext>
            </a:extLst>
          </p:cNvPr>
          <p:cNvSpPr/>
          <p:nvPr/>
        </p:nvSpPr>
        <p:spPr>
          <a:xfrm>
            <a:off x="11653520" y="6464994"/>
            <a:ext cx="443533" cy="3930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dirty="0">
                <a:latin typeface="Times New Roman" panose="02020603050405020304" pitchFamily="18" charset="0"/>
                <a:cs typeface="Times New Roman" panose="02020603050405020304" pitchFamily="18" charset="0"/>
              </a:rPr>
              <a:t>7</a:t>
            </a:r>
            <a:endParaRPr lang="fr-CM" sz="2000" dirty="0">
              <a:latin typeface="Times New Roman" panose="02020603050405020304" pitchFamily="18" charset="0"/>
              <a:cs typeface="Times New Roman" panose="02020603050405020304" pitchFamily="18" charset="0"/>
            </a:endParaRPr>
          </a:p>
        </p:txBody>
      </p:sp>
      <p:pic>
        <p:nvPicPr>
          <p:cNvPr id="3" name="Image 2">
            <a:extLst>
              <a:ext uri="{FF2B5EF4-FFF2-40B4-BE49-F238E27FC236}">
                <a16:creationId xmlns:a16="http://schemas.microsoft.com/office/drawing/2014/main" id="{7ABC1476-A8B4-4B70-0AC7-31BC7494F5E6}"/>
              </a:ext>
            </a:extLst>
          </p:cNvPr>
          <p:cNvPicPr>
            <a:picLocks noChangeAspect="1"/>
          </p:cNvPicPr>
          <p:nvPr/>
        </p:nvPicPr>
        <p:blipFill>
          <a:blip r:embed="rId3"/>
          <a:stretch>
            <a:fillRect/>
          </a:stretch>
        </p:blipFill>
        <p:spPr>
          <a:xfrm>
            <a:off x="482219" y="1065413"/>
            <a:ext cx="6353289" cy="4055632"/>
          </a:xfrm>
          <a:prstGeom prst="rect">
            <a:avLst/>
          </a:prstGeom>
        </p:spPr>
      </p:pic>
      <p:pic>
        <p:nvPicPr>
          <p:cNvPr id="6" name="Image 5">
            <a:extLst>
              <a:ext uri="{FF2B5EF4-FFF2-40B4-BE49-F238E27FC236}">
                <a16:creationId xmlns:a16="http://schemas.microsoft.com/office/drawing/2014/main" id="{4898DC43-B356-DFAC-B7D5-BDB88650BDF1}"/>
              </a:ext>
            </a:extLst>
          </p:cNvPr>
          <p:cNvPicPr>
            <a:picLocks noChangeAspect="1"/>
          </p:cNvPicPr>
          <p:nvPr/>
        </p:nvPicPr>
        <p:blipFill>
          <a:blip r:embed="rId4"/>
          <a:stretch>
            <a:fillRect/>
          </a:stretch>
        </p:blipFill>
        <p:spPr>
          <a:xfrm>
            <a:off x="8670275" y="1065413"/>
            <a:ext cx="3354571" cy="3982166"/>
          </a:xfrm>
          <a:prstGeom prst="rect">
            <a:avLst/>
          </a:prstGeom>
        </p:spPr>
      </p:pic>
      <p:sp>
        <p:nvSpPr>
          <p:cNvPr id="9" name="ZoneTexte 8">
            <a:extLst>
              <a:ext uri="{FF2B5EF4-FFF2-40B4-BE49-F238E27FC236}">
                <a16:creationId xmlns:a16="http://schemas.microsoft.com/office/drawing/2014/main" id="{6B983488-BB6F-AAAB-8F50-1005134AD9C5}"/>
              </a:ext>
            </a:extLst>
          </p:cNvPr>
          <p:cNvSpPr txBox="1"/>
          <p:nvPr/>
        </p:nvSpPr>
        <p:spPr>
          <a:xfrm>
            <a:off x="998483" y="5247748"/>
            <a:ext cx="3741683" cy="646331"/>
          </a:xfrm>
          <a:prstGeom prst="rect">
            <a:avLst/>
          </a:prstGeom>
          <a:noFill/>
        </p:spPr>
        <p:txBody>
          <a:bodyPr wrap="square">
            <a:spAutoFit/>
          </a:bodyPr>
          <a:lstStyle/>
          <a:p>
            <a:pPr marL="285750" indent="-285750" algn="l">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P</a:t>
            </a:r>
            <a:r>
              <a:rPr lang="fr-FR" b="0" i="0" dirty="0">
                <a:solidFill>
                  <a:schemeClr val="tx1"/>
                </a:solidFill>
                <a:effectLst/>
                <a:latin typeface="Times New Roman" panose="02020603050405020304" pitchFamily="18" charset="0"/>
                <a:cs typeface="Times New Roman" panose="02020603050405020304" pitchFamily="18" charset="0"/>
              </a:rPr>
              <a:t>osition : 3,05° N, 9,55° E</a:t>
            </a:r>
            <a:r>
              <a:rPr lang="fr-FR" dirty="0">
                <a:latin typeface="Times New Roman" panose="02020603050405020304" pitchFamily="18" charset="0"/>
                <a:cs typeface="Times New Roman" panose="02020603050405020304" pitchFamily="18" charset="0"/>
              </a:rPr>
              <a:t> </a:t>
            </a:r>
          </a:p>
          <a:p>
            <a:pPr marL="285750" indent="-285750" algn="l">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 Date : </a:t>
            </a:r>
            <a:r>
              <a:rPr lang="fr-FR" b="0" i="0" dirty="0">
                <a:solidFill>
                  <a:schemeClr val="tx1"/>
                </a:solidFill>
                <a:effectLst/>
                <a:latin typeface="Times New Roman" panose="02020603050405020304" pitchFamily="18" charset="0"/>
                <a:cs typeface="Times New Roman" panose="02020603050405020304" pitchFamily="18" charset="0"/>
              </a:rPr>
              <a:t>1er mars 2026 à 06 h 00 </a:t>
            </a:r>
          </a:p>
        </p:txBody>
      </p:sp>
      <p:sp>
        <p:nvSpPr>
          <p:cNvPr id="12" name="ZoneTexte 11">
            <a:extLst>
              <a:ext uri="{FF2B5EF4-FFF2-40B4-BE49-F238E27FC236}">
                <a16:creationId xmlns:a16="http://schemas.microsoft.com/office/drawing/2014/main" id="{63993DFF-BAE4-73E4-4AF5-DBC4A5B8DADC}"/>
              </a:ext>
            </a:extLst>
          </p:cNvPr>
          <p:cNvSpPr txBox="1"/>
          <p:nvPr/>
        </p:nvSpPr>
        <p:spPr>
          <a:xfrm>
            <a:off x="6835508" y="5147053"/>
            <a:ext cx="3068656" cy="923330"/>
          </a:xfrm>
          <a:prstGeom prst="rect">
            <a:avLst/>
          </a:prstGeom>
          <a:noFill/>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GLORYS12: 703 km²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CROCO 1/36° : 623 km²</a:t>
            </a:r>
          </a:p>
          <a:p>
            <a:pPr marR="0" lvl="0" algn="l" defTabSz="457200" rtl="0" eaLnBrk="1" fontAlgn="auto" latinLnBrk="0" hangingPunct="1">
              <a:lnSpc>
                <a:spcPct val="100000"/>
              </a:lnSpc>
              <a:spcBef>
                <a:spcPts val="0"/>
              </a:spcBef>
              <a:spcAft>
                <a:spcPts val="0"/>
              </a:spcAft>
              <a:buClrTx/>
              <a:buSzTx/>
              <a:tabLst/>
              <a:defRPr/>
            </a:pPr>
            <a:endParaRPr kumimoji="0" lang="fr-TG"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16" name="ZoneTexte 15">
            <a:extLst>
              <a:ext uri="{FF2B5EF4-FFF2-40B4-BE49-F238E27FC236}">
                <a16:creationId xmlns:a16="http://schemas.microsoft.com/office/drawing/2014/main" id="{E45C34E5-1E83-7B71-22AC-80AC1980545C}"/>
              </a:ext>
            </a:extLst>
          </p:cNvPr>
          <p:cNvSpPr txBox="1"/>
          <p:nvPr/>
        </p:nvSpPr>
        <p:spPr>
          <a:xfrm>
            <a:off x="98089" y="541467"/>
            <a:ext cx="3933577"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(a) : Impact de la résolution</a:t>
            </a:r>
            <a:endParaRPr lang="fr-TG" sz="2000" b="1" dirty="0"/>
          </a:p>
        </p:txBody>
      </p:sp>
      <p:sp>
        <p:nvSpPr>
          <p:cNvPr id="18" name="ZoneTexte 17">
            <a:extLst>
              <a:ext uri="{FF2B5EF4-FFF2-40B4-BE49-F238E27FC236}">
                <a16:creationId xmlns:a16="http://schemas.microsoft.com/office/drawing/2014/main" id="{0F863120-42BD-C92A-8580-1C0C6E1B4254}"/>
              </a:ext>
            </a:extLst>
          </p:cNvPr>
          <p:cNvSpPr txBox="1"/>
          <p:nvPr/>
        </p:nvSpPr>
        <p:spPr>
          <a:xfrm>
            <a:off x="7302141" y="561139"/>
            <a:ext cx="4722706" cy="400110"/>
          </a:xfrm>
          <a:prstGeom prst="rect">
            <a:avLst/>
          </a:prstGeom>
          <a:noFill/>
        </p:spPr>
        <p:txBody>
          <a:bodyPr wrap="square">
            <a:spAutoFit/>
          </a:bodyPr>
          <a:lstStyle/>
          <a:p>
            <a:r>
              <a:rPr lang="fr-FR" sz="2000" b="1" dirty="0">
                <a:latin typeface="Times New Roman" panose="02020603050405020304" pitchFamily="18" charset="0"/>
                <a:cs typeface="Times New Roman" panose="02020603050405020304" pitchFamily="18" charset="0"/>
              </a:rPr>
              <a:t>(b) : Effet du vent  sur l’aire de dispersion </a:t>
            </a:r>
            <a:endParaRPr lang="fr-TG" sz="2000" b="1" dirty="0"/>
          </a:p>
        </p:txBody>
      </p:sp>
      <p:cxnSp>
        <p:nvCxnSpPr>
          <p:cNvPr id="5" name="Connecteur droit 4">
            <a:extLst>
              <a:ext uri="{FF2B5EF4-FFF2-40B4-BE49-F238E27FC236}">
                <a16:creationId xmlns:a16="http://schemas.microsoft.com/office/drawing/2014/main" id="{5A8B0D44-5222-88E0-4AE0-F39C499D18E5}"/>
              </a:ext>
            </a:extLst>
          </p:cNvPr>
          <p:cNvCxnSpPr/>
          <p:nvPr/>
        </p:nvCxnSpPr>
        <p:spPr>
          <a:xfrm>
            <a:off x="7205760" y="704229"/>
            <a:ext cx="0" cy="4343350"/>
          </a:xfrm>
          <a:prstGeom prst="line">
            <a:avLst/>
          </a:prstGeom>
          <a:ln w="38100">
            <a:solidFill>
              <a:srgbClr val="FF0000"/>
            </a:solidFill>
          </a:ln>
        </p:spPr>
        <p:style>
          <a:lnRef idx="1">
            <a:schemeClr val="dk1"/>
          </a:lnRef>
          <a:fillRef idx="0">
            <a:schemeClr val="dk1"/>
          </a:fillRef>
          <a:effectRef idx="0">
            <a:schemeClr val="dk1"/>
          </a:effectRef>
          <a:fontRef idx="minor">
            <a:schemeClr val="tx1"/>
          </a:fontRef>
        </p:style>
      </p:cxnSp>
      <p:sp>
        <p:nvSpPr>
          <p:cNvPr id="7" name="Ellipse 6">
            <a:extLst>
              <a:ext uri="{FF2B5EF4-FFF2-40B4-BE49-F238E27FC236}">
                <a16:creationId xmlns:a16="http://schemas.microsoft.com/office/drawing/2014/main" id="{246291A1-37A8-BAC6-86F5-60E307EF6D68}"/>
              </a:ext>
            </a:extLst>
          </p:cNvPr>
          <p:cNvSpPr/>
          <p:nvPr/>
        </p:nvSpPr>
        <p:spPr>
          <a:xfrm>
            <a:off x="1870362" y="5894079"/>
            <a:ext cx="9005455" cy="447274"/>
          </a:xfrm>
          <a:prstGeom prst="ellipse">
            <a:avLst/>
          </a:prstGeom>
          <a:ln>
            <a:solidFill>
              <a:schemeClr val="tx1">
                <a:lumMod val="50000"/>
                <a:lumOff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fr-FR" sz="1700" dirty="0">
                <a:solidFill>
                  <a:srgbClr val="C00000"/>
                </a:solidFill>
              </a:rPr>
              <a:t>Augmenter la résolution diminue de 13 % l’incertitude sur la zone de recherche</a:t>
            </a:r>
          </a:p>
        </p:txBody>
      </p:sp>
    </p:spTree>
    <p:extLst>
      <p:ext uri="{BB962C8B-B14F-4D97-AF65-F5344CB8AC3E}">
        <p14:creationId xmlns:p14="http://schemas.microsoft.com/office/powerpoint/2010/main" val="3890344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86511D49-1DFF-4550-226B-26900CC8DDB5}"/>
              </a:ext>
            </a:extLst>
          </p:cNvPr>
          <p:cNvSpPr txBox="1"/>
          <p:nvPr/>
        </p:nvSpPr>
        <p:spPr>
          <a:xfrm>
            <a:off x="2560320" y="0"/>
            <a:ext cx="7071360" cy="461665"/>
          </a:xfrm>
          <a:prstGeom prst="rect">
            <a:avLst/>
          </a:prstGeom>
          <a:solidFill>
            <a:schemeClr val="tx2"/>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fr-TG" dirty="0"/>
              <a:t> </a:t>
            </a:r>
            <a:r>
              <a:rPr lang="fr-FR" sz="2400" u="sng" dirty="0">
                <a:latin typeface="Times New Roman" panose="02020603050405020304" pitchFamily="18" charset="0"/>
                <a:cs typeface="Times New Roman" panose="02020603050405020304" pitchFamily="18" charset="0"/>
              </a:rPr>
              <a:t>Difficultés rencontrées </a:t>
            </a:r>
            <a:endParaRPr lang="fr-TG" sz="2400" dirty="0">
              <a:latin typeface="Times New Roman" panose="02020603050405020304" pitchFamily="18" charset="0"/>
              <a:cs typeface="Times New Roman" panose="02020603050405020304" pitchFamily="18" charset="0"/>
            </a:endParaRPr>
          </a:p>
        </p:txBody>
      </p:sp>
      <p:sp>
        <p:nvSpPr>
          <p:cNvPr id="2" name="ZoneTexte 1">
            <a:extLst>
              <a:ext uri="{FF2B5EF4-FFF2-40B4-BE49-F238E27FC236}">
                <a16:creationId xmlns:a16="http://schemas.microsoft.com/office/drawing/2014/main" id="{BAA34B40-F991-8D6C-9E0F-40F58AD81AC5}"/>
              </a:ext>
            </a:extLst>
          </p:cNvPr>
          <p:cNvSpPr txBox="1"/>
          <p:nvPr/>
        </p:nvSpPr>
        <p:spPr>
          <a:xfrm>
            <a:off x="-119550" y="748289"/>
            <a:ext cx="5700217" cy="461665"/>
          </a:xfrm>
          <a:prstGeom prst="rect">
            <a:avLst/>
          </a:prstGeom>
          <a:noFill/>
        </p:spPr>
        <p:txBody>
          <a:bodyPr wrap="square" rtlCol="0">
            <a:spAutoFit/>
          </a:bodyPr>
          <a:lstStyle/>
          <a:p>
            <a:pPr marL="285750" indent="-285750" algn="ctr">
              <a:buFont typeface="Wingdings" panose="05000000000000000000" pitchFamily="2" charset="2"/>
              <a:buChar char="Ø"/>
            </a:pPr>
            <a:r>
              <a:rPr lang="fr-FR" sz="2400" dirty="0"/>
              <a:t>Matériels : ressources </a:t>
            </a:r>
            <a:r>
              <a:rPr lang="fr-FR" sz="2400" dirty="0" err="1"/>
              <a:t>inssufissantes</a:t>
            </a:r>
            <a:endParaRPr lang="fr-FR" sz="2400" dirty="0"/>
          </a:p>
        </p:txBody>
      </p:sp>
      <p:sp>
        <p:nvSpPr>
          <p:cNvPr id="4" name="Rectangle 3"/>
          <p:cNvSpPr/>
          <p:nvPr/>
        </p:nvSpPr>
        <p:spPr>
          <a:xfrm>
            <a:off x="191239" y="1113876"/>
            <a:ext cx="4871398" cy="461665"/>
          </a:xfrm>
          <a:prstGeom prst="rect">
            <a:avLst/>
          </a:prstGeom>
        </p:spPr>
        <p:txBody>
          <a:bodyPr wrap="none">
            <a:spAutoFit/>
          </a:bodyPr>
          <a:lstStyle/>
          <a:p>
            <a:pPr marL="285750" indent="-285750" algn="ctr">
              <a:buFont typeface="Wingdings" panose="05000000000000000000" pitchFamily="2" charset="2"/>
              <a:buChar char="Ø"/>
            </a:pPr>
            <a:r>
              <a:rPr lang="fr-FR" sz="2400" dirty="0"/>
              <a:t>Insuffisance de temps de pratique </a:t>
            </a:r>
          </a:p>
        </p:txBody>
      </p:sp>
      <p:pic>
        <p:nvPicPr>
          <p:cNvPr id="5" name="Image 4"/>
          <p:cNvPicPr>
            <a:picLocks noChangeAspect="1"/>
          </p:cNvPicPr>
          <p:nvPr/>
        </p:nvPicPr>
        <p:blipFill>
          <a:blip r:embed="rId2"/>
          <a:stretch>
            <a:fillRect/>
          </a:stretch>
        </p:blipFill>
        <p:spPr>
          <a:xfrm>
            <a:off x="224051" y="1807049"/>
            <a:ext cx="6194730" cy="4131837"/>
          </a:xfrm>
          <a:prstGeom prst="rect">
            <a:avLst/>
          </a:prstGeom>
        </p:spPr>
      </p:pic>
      <p:pic>
        <p:nvPicPr>
          <p:cNvPr id="6" name="Image 5"/>
          <p:cNvPicPr>
            <a:picLocks noChangeAspect="1"/>
          </p:cNvPicPr>
          <p:nvPr/>
        </p:nvPicPr>
        <p:blipFill>
          <a:blip r:embed="rId3"/>
          <a:stretch>
            <a:fillRect/>
          </a:stretch>
        </p:blipFill>
        <p:spPr>
          <a:xfrm>
            <a:off x="7437747" y="625263"/>
            <a:ext cx="4147795" cy="2766546"/>
          </a:xfrm>
          <a:prstGeom prst="rect">
            <a:avLst/>
          </a:prstGeom>
        </p:spPr>
      </p:pic>
      <p:pic>
        <p:nvPicPr>
          <p:cNvPr id="7" name="Image 6"/>
          <p:cNvPicPr>
            <a:picLocks noChangeAspect="1"/>
          </p:cNvPicPr>
          <p:nvPr/>
        </p:nvPicPr>
        <p:blipFill>
          <a:blip r:embed="rId4"/>
          <a:stretch>
            <a:fillRect/>
          </a:stretch>
        </p:blipFill>
        <p:spPr>
          <a:xfrm>
            <a:off x="7447176" y="3529820"/>
            <a:ext cx="4194928" cy="2805955"/>
          </a:xfrm>
          <a:prstGeom prst="rect">
            <a:avLst/>
          </a:prstGeom>
        </p:spPr>
      </p:pic>
    </p:spTree>
    <p:extLst>
      <p:ext uri="{BB962C8B-B14F-4D97-AF65-F5344CB8AC3E}">
        <p14:creationId xmlns:p14="http://schemas.microsoft.com/office/powerpoint/2010/main" val="3101218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40E48F07-F8EF-B724-2BB2-BED8EAB6F509}"/>
              </a:ext>
            </a:extLst>
          </p:cNvPr>
          <p:cNvSpPr txBox="1"/>
          <p:nvPr/>
        </p:nvSpPr>
        <p:spPr>
          <a:xfrm>
            <a:off x="1104298" y="358560"/>
            <a:ext cx="10281308" cy="769441"/>
          </a:xfrm>
          <a:prstGeom prst="rect">
            <a:avLst/>
          </a:prstGeom>
          <a:solidFill>
            <a:schemeClr val="tx2"/>
          </a:solidFill>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fr-TG" sz="4400" dirty="0"/>
              <a:t> </a:t>
            </a:r>
            <a:r>
              <a:rPr lang="fr-FR" sz="4400" dirty="0"/>
              <a:t>MERCI POUR VOTRE AIMABLE ATTENTION</a:t>
            </a:r>
            <a:endParaRPr lang="fr-FR" sz="4400" dirty="0">
              <a:latin typeface="Times New Roman" panose="02020603050405020304" pitchFamily="18" charset="0"/>
              <a:cs typeface="Times New Roman" panose="02020603050405020304" pitchFamily="18" charset="0"/>
            </a:endParaRPr>
          </a:p>
        </p:txBody>
      </p:sp>
      <p:pic>
        <p:nvPicPr>
          <p:cNvPr id="2" name="Image 1"/>
          <p:cNvPicPr>
            <a:picLocks noChangeAspect="1"/>
          </p:cNvPicPr>
          <p:nvPr/>
        </p:nvPicPr>
        <p:blipFill>
          <a:blip r:embed="rId2"/>
          <a:stretch>
            <a:fillRect/>
          </a:stretch>
        </p:blipFill>
        <p:spPr>
          <a:xfrm>
            <a:off x="276141" y="1420236"/>
            <a:ext cx="5870136" cy="3915335"/>
          </a:xfrm>
          <a:prstGeom prst="rect">
            <a:avLst/>
          </a:prstGeom>
        </p:spPr>
      </p:pic>
      <p:pic>
        <p:nvPicPr>
          <p:cNvPr id="4" name="Image 3"/>
          <p:cNvPicPr>
            <a:picLocks noChangeAspect="1"/>
          </p:cNvPicPr>
          <p:nvPr/>
        </p:nvPicPr>
        <p:blipFill>
          <a:blip r:embed="rId3"/>
          <a:stretch>
            <a:fillRect/>
          </a:stretch>
        </p:blipFill>
        <p:spPr>
          <a:xfrm>
            <a:off x="6323317" y="1442301"/>
            <a:ext cx="5794654" cy="3864989"/>
          </a:xfrm>
          <a:prstGeom prst="rect">
            <a:avLst/>
          </a:prstGeom>
        </p:spPr>
      </p:pic>
    </p:spTree>
    <p:extLst>
      <p:ext uri="{BB962C8B-B14F-4D97-AF65-F5344CB8AC3E}">
        <p14:creationId xmlns:p14="http://schemas.microsoft.com/office/powerpoint/2010/main" val="2207098816"/>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24978</TotalTime>
  <Words>768</Words>
  <Application>Microsoft Office PowerPoint</Application>
  <PresentationFormat>Grand écran</PresentationFormat>
  <Paragraphs>85</Paragraphs>
  <Slides>9</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9</vt:i4>
      </vt:variant>
    </vt:vector>
  </HeadingPairs>
  <TitlesOfParts>
    <vt:vector size="16" baseType="lpstr">
      <vt:lpstr>Arial</vt:lpstr>
      <vt:lpstr>Calibri</vt:lpstr>
      <vt:lpstr>Calibri Light</vt:lpstr>
      <vt:lpstr>Google Sans Text</vt:lpstr>
      <vt:lpstr>Times New Roman</vt:lpstr>
      <vt:lpstr>Wingdings</vt:lpstr>
      <vt:lpstr>Retrospect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SEMEVO AGBESSI</cp:lastModifiedBy>
  <cp:revision>463</cp:revision>
  <dcterms:created xsi:type="dcterms:W3CDTF">2024-07-14T22:10:55Z</dcterms:created>
  <dcterms:modified xsi:type="dcterms:W3CDTF">2026-10-09T08:05:58Z</dcterms:modified>
</cp:coreProperties>
</file>